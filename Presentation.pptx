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DF7271-8884-820F-E0C2-DD2244BF3A13}" v="513" dt="2026-04-16T01:02:16.1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380B9A71-6E24-4D0A-BDBF-E5CFA3F80D14}" type="doc">
      <dgm:prSet loTypeId="urn:microsoft.com/office/officeart/2005/8/layout/matrix3" loCatId="matrix" qsTypeId="urn:microsoft.com/office/officeart/2005/8/quickstyle/simple4" qsCatId="simple" csTypeId="urn:microsoft.com/office/officeart/2005/8/colors/colorful1" csCatId="colorful"/>
      <dgm:spPr/>
      <dgm:t>
        <a:bodyPr/>
        <a:lstStyle/>
        <a:p>
          <a:endParaRPr lang="en-US"/>
        </a:p>
      </dgm:t>
    </dgm:pt>
    <dgm:pt modelId="{427FCCFE-C5C9-465F-BC5F-DAA7C0FEF551}">
      <dgm:prSet/>
      <dgm:spPr/>
      <dgm:t>
        <a:bodyPr/>
        <a:lstStyle/>
        <a:p>
          <a:r>
            <a:rPr lang="en-US"/>
            <a:t>Linear and sequential process </a:t>
          </a:r>
        </a:p>
      </dgm:t>
    </dgm:pt>
    <dgm:pt modelId="{D74B6D03-939B-4C9F-9DE8-3B3D0942D502}" type="parTrans" cxnId="{88D469DB-A6A0-4405-A904-4A1477B02815}">
      <dgm:prSet/>
      <dgm:spPr/>
      <dgm:t>
        <a:bodyPr/>
        <a:lstStyle/>
        <a:p>
          <a:endParaRPr lang="en-US"/>
        </a:p>
      </dgm:t>
    </dgm:pt>
    <dgm:pt modelId="{1E2CB010-90E5-4159-BAE8-584919DCD781}" type="sibTrans" cxnId="{88D469DB-A6A0-4405-A904-4A1477B02815}">
      <dgm:prSet/>
      <dgm:spPr/>
      <dgm:t>
        <a:bodyPr/>
        <a:lstStyle/>
        <a:p>
          <a:endParaRPr lang="en-US"/>
        </a:p>
      </dgm:t>
    </dgm:pt>
    <dgm:pt modelId="{1643FD69-2048-4CC4-93CD-5262CA8F4A4D}">
      <dgm:prSet/>
      <dgm:spPr/>
      <dgm:t>
        <a:bodyPr/>
        <a:lstStyle/>
        <a:p>
          <a:r>
            <a:rPr lang="en-US"/>
            <a:t>Each phase must be completed before moving forward </a:t>
          </a:r>
        </a:p>
      </dgm:t>
    </dgm:pt>
    <dgm:pt modelId="{3F7085B3-941E-4B94-BAFD-DDB3447AC0A1}" type="parTrans" cxnId="{FB23F221-14C7-4A8A-953D-5C9F032FA526}">
      <dgm:prSet/>
      <dgm:spPr/>
      <dgm:t>
        <a:bodyPr/>
        <a:lstStyle/>
        <a:p>
          <a:endParaRPr lang="en-US"/>
        </a:p>
      </dgm:t>
    </dgm:pt>
    <dgm:pt modelId="{475B18CC-1D11-42B5-825B-C27D8612E353}" type="sibTrans" cxnId="{FB23F221-14C7-4A8A-953D-5C9F032FA526}">
      <dgm:prSet/>
      <dgm:spPr/>
      <dgm:t>
        <a:bodyPr/>
        <a:lstStyle/>
        <a:p>
          <a:endParaRPr lang="en-US"/>
        </a:p>
      </dgm:t>
    </dgm:pt>
    <dgm:pt modelId="{2C4683A3-AC29-41DD-8F87-D2189BBBE401}">
      <dgm:prSet/>
      <dgm:spPr/>
      <dgm:t>
        <a:bodyPr/>
        <a:lstStyle/>
        <a:p>
          <a:r>
            <a:rPr lang="en-US"/>
            <a:t>Limited flexibility for changes </a:t>
          </a:r>
        </a:p>
      </dgm:t>
    </dgm:pt>
    <dgm:pt modelId="{59C74CF4-0DFE-4FB5-8A22-2213491A40A8}" type="parTrans" cxnId="{E8FFE1DF-7403-4A5B-9F7B-D27677D8B243}">
      <dgm:prSet/>
      <dgm:spPr/>
      <dgm:t>
        <a:bodyPr/>
        <a:lstStyle/>
        <a:p>
          <a:endParaRPr lang="en-US"/>
        </a:p>
      </dgm:t>
    </dgm:pt>
    <dgm:pt modelId="{7B8EEC79-4DA6-418B-9C15-E89E37D807B6}" type="sibTrans" cxnId="{E8FFE1DF-7403-4A5B-9F7B-D27677D8B243}">
      <dgm:prSet/>
      <dgm:spPr/>
      <dgm:t>
        <a:bodyPr/>
        <a:lstStyle/>
        <a:p>
          <a:endParaRPr lang="en-US"/>
        </a:p>
      </dgm:t>
    </dgm:pt>
    <dgm:pt modelId="{FB56F1B4-6E62-4AA3-ADC7-EC364243A571}">
      <dgm:prSet/>
      <dgm:spPr/>
      <dgm:t>
        <a:bodyPr/>
        <a:lstStyle/>
        <a:p>
          <a:r>
            <a:rPr lang="en-US"/>
            <a:t>Testing occurs at the end</a:t>
          </a:r>
        </a:p>
      </dgm:t>
    </dgm:pt>
    <dgm:pt modelId="{E539DAA7-63CB-4542-A29E-B3AADA5824F5}" type="parTrans" cxnId="{63CC3C48-C04F-4EEA-B48C-2199DC3395A6}">
      <dgm:prSet/>
      <dgm:spPr/>
      <dgm:t>
        <a:bodyPr/>
        <a:lstStyle/>
        <a:p>
          <a:endParaRPr lang="en-US"/>
        </a:p>
      </dgm:t>
    </dgm:pt>
    <dgm:pt modelId="{D5DC8AFE-E3FA-42AD-9C14-E9284AB641D8}" type="sibTrans" cxnId="{63CC3C48-C04F-4EEA-B48C-2199DC3395A6}">
      <dgm:prSet/>
      <dgm:spPr/>
      <dgm:t>
        <a:bodyPr/>
        <a:lstStyle/>
        <a:p>
          <a:endParaRPr lang="en-US"/>
        </a:p>
      </dgm:t>
    </dgm:pt>
    <dgm:pt modelId="{99E959FF-12F8-4760-903B-29831D5FB3E8}" type="pres">
      <dgm:prSet presAssocID="{380B9A71-6E24-4D0A-BDBF-E5CFA3F80D14}" presName="matrix" presStyleCnt="0">
        <dgm:presLayoutVars>
          <dgm:chMax val="1"/>
          <dgm:dir/>
          <dgm:resizeHandles val="exact"/>
        </dgm:presLayoutVars>
      </dgm:prSet>
      <dgm:spPr/>
    </dgm:pt>
    <dgm:pt modelId="{1E11658A-EAE9-422B-A706-CCA6F8207F0D}" type="pres">
      <dgm:prSet presAssocID="{380B9A71-6E24-4D0A-BDBF-E5CFA3F80D14}" presName="diamond" presStyleLbl="bgShp" presStyleIdx="0" presStyleCnt="1"/>
      <dgm:spPr/>
    </dgm:pt>
    <dgm:pt modelId="{8667804C-ED0F-482C-B18F-348DBA6EB77F}" type="pres">
      <dgm:prSet presAssocID="{380B9A71-6E24-4D0A-BDBF-E5CFA3F80D14}" presName="quad1" presStyleLbl="node1" presStyleIdx="0" presStyleCnt="4">
        <dgm:presLayoutVars>
          <dgm:chMax val="0"/>
          <dgm:chPref val="0"/>
          <dgm:bulletEnabled val="1"/>
        </dgm:presLayoutVars>
      </dgm:prSet>
      <dgm:spPr/>
    </dgm:pt>
    <dgm:pt modelId="{107FEA43-D058-4A95-B727-5B82AB020717}" type="pres">
      <dgm:prSet presAssocID="{380B9A71-6E24-4D0A-BDBF-E5CFA3F80D14}" presName="quad2" presStyleLbl="node1" presStyleIdx="1" presStyleCnt="4">
        <dgm:presLayoutVars>
          <dgm:chMax val="0"/>
          <dgm:chPref val="0"/>
          <dgm:bulletEnabled val="1"/>
        </dgm:presLayoutVars>
      </dgm:prSet>
      <dgm:spPr/>
    </dgm:pt>
    <dgm:pt modelId="{68497BC8-26AC-4A07-9E71-B73496422025}" type="pres">
      <dgm:prSet presAssocID="{380B9A71-6E24-4D0A-BDBF-E5CFA3F80D14}" presName="quad3" presStyleLbl="node1" presStyleIdx="2" presStyleCnt="4">
        <dgm:presLayoutVars>
          <dgm:chMax val="0"/>
          <dgm:chPref val="0"/>
          <dgm:bulletEnabled val="1"/>
        </dgm:presLayoutVars>
      </dgm:prSet>
      <dgm:spPr/>
    </dgm:pt>
    <dgm:pt modelId="{5BD0A110-58F4-4C8B-8FE1-3A024E21A403}" type="pres">
      <dgm:prSet presAssocID="{380B9A71-6E24-4D0A-BDBF-E5CFA3F80D14}" presName="quad4" presStyleLbl="node1" presStyleIdx="3" presStyleCnt="4">
        <dgm:presLayoutVars>
          <dgm:chMax val="0"/>
          <dgm:chPref val="0"/>
          <dgm:bulletEnabled val="1"/>
        </dgm:presLayoutVars>
      </dgm:prSet>
      <dgm:spPr/>
    </dgm:pt>
  </dgm:ptLst>
  <dgm:cxnLst>
    <dgm:cxn modelId="{FB23F221-14C7-4A8A-953D-5C9F032FA526}" srcId="{380B9A71-6E24-4D0A-BDBF-E5CFA3F80D14}" destId="{1643FD69-2048-4CC4-93CD-5262CA8F4A4D}" srcOrd="1" destOrd="0" parTransId="{3F7085B3-941E-4B94-BAFD-DDB3447AC0A1}" sibTransId="{475B18CC-1D11-42B5-825B-C27D8612E353}"/>
    <dgm:cxn modelId="{63CC3C48-C04F-4EEA-B48C-2199DC3395A6}" srcId="{380B9A71-6E24-4D0A-BDBF-E5CFA3F80D14}" destId="{FB56F1B4-6E62-4AA3-ADC7-EC364243A571}" srcOrd="3" destOrd="0" parTransId="{E539DAA7-63CB-4542-A29E-B3AADA5824F5}" sibTransId="{D5DC8AFE-E3FA-42AD-9C14-E9284AB641D8}"/>
    <dgm:cxn modelId="{F3513273-4E78-48F2-B200-FF910DF90E9D}" type="presOf" srcId="{380B9A71-6E24-4D0A-BDBF-E5CFA3F80D14}" destId="{99E959FF-12F8-4760-903B-29831D5FB3E8}" srcOrd="0" destOrd="0" presId="urn:microsoft.com/office/officeart/2005/8/layout/matrix3"/>
    <dgm:cxn modelId="{6C7C3D7D-434A-48F7-B987-043143E7B1D4}" type="presOf" srcId="{FB56F1B4-6E62-4AA3-ADC7-EC364243A571}" destId="{5BD0A110-58F4-4C8B-8FE1-3A024E21A403}" srcOrd="0" destOrd="0" presId="urn:microsoft.com/office/officeart/2005/8/layout/matrix3"/>
    <dgm:cxn modelId="{F93F178D-8C56-46A2-960D-BD28ACCD2AA9}" type="presOf" srcId="{427FCCFE-C5C9-465F-BC5F-DAA7C0FEF551}" destId="{8667804C-ED0F-482C-B18F-348DBA6EB77F}" srcOrd="0" destOrd="0" presId="urn:microsoft.com/office/officeart/2005/8/layout/matrix3"/>
    <dgm:cxn modelId="{0D1413D4-E8EC-4052-A044-5D14FBD38C9A}" type="presOf" srcId="{1643FD69-2048-4CC4-93CD-5262CA8F4A4D}" destId="{107FEA43-D058-4A95-B727-5B82AB020717}" srcOrd="0" destOrd="0" presId="urn:microsoft.com/office/officeart/2005/8/layout/matrix3"/>
    <dgm:cxn modelId="{88D469DB-A6A0-4405-A904-4A1477B02815}" srcId="{380B9A71-6E24-4D0A-BDBF-E5CFA3F80D14}" destId="{427FCCFE-C5C9-465F-BC5F-DAA7C0FEF551}" srcOrd="0" destOrd="0" parTransId="{D74B6D03-939B-4C9F-9DE8-3B3D0942D502}" sibTransId="{1E2CB010-90E5-4159-BAE8-584919DCD781}"/>
    <dgm:cxn modelId="{9C26CDDB-65A3-4154-94FA-1F2BE2AF369B}" type="presOf" srcId="{2C4683A3-AC29-41DD-8F87-D2189BBBE401}" destId="{68497BC8-26AC-4A07-9E71-B73496422025}" srcOrd="0" destOrd="0" presId="urn:microsoft.com/office/officeart/2005/8/layout/matrix3"/>
    <dgm:cxn modelId="{E8FFE1DF-7403-4A5B-9F7B-D27677D8B243}" srcId="{380B9A71-6E24-4D0A-BDBF-E5CFA3F80D14}" destId="{2C4683A3-AC29-41DD-8F87-D2189BBBE401}" srcOrd="2" destOrd="0" parTransId="{59C74CF4-0DFE-4FB5-8A22-2213491A40A8}" sibTransId="{7B8EEC79-4DA6-418B-9C15-E89E37D807B6}"/>
    <dgm:cxn modelId="{B75B06CA-1526-4A3D-9693-11B840A572B8}" type="presParOf" srcId="{99E959FF-12F8-4760-903B-29831D5FB3E8}" destId="{1E11658A-EAE9-422B-A706-CCA6F8207F0D}" srcOrd="0" destOrd="0" presId="urn:microsoft.com/office/officeart/2005/8/layout/matrix3"/>
    <dgm:cxn modelId="{5D885DDE-51D0-486D-AB0D-1F2BE19CC90E}" type="presParOf" srcId="{99E959FF-12F8-4760-903B-29831D5FB3E8}" destId="{8667804C-ED0F-482C-B18F-348DBA6EB77F}" srcOrd="1" destOrd="0" presId="urn:microsoft.com/office/officeart/2005/8/layout/matrix3"/>
    <dgm:cxn modelId="{41BFD37C-00FB-43C4-8A55-A6F24D2332F8}" type="presParOf" srcId="{99E959FF-12F8-4760-903B-29831D5FB3E8}" destId="{107FEA43-D058-4A95-B727-5B82AB020717}" srcOrd="2" destOrd="0" presId="urn:microsoft.com/office/officeart/2005/8/layout/matrix3"/>
    <dgm:cxn modelId="{5095AE0C-32F2-4DFF-AC65-7BCFCC6FCB45}" type="presParOf" srcId="{99E959FF-12F8-4760-903B-29831D5FB3E8}" destId="{68497BC8-26AC-4A07-9E71-B73496422025}" srcOrd="3" destOrd="0" presId="urn:microsoft.com/office/officeart/2005/8/layout/matrix3"/>
    <dgm:cxn modelId="{1A3A5C04-7F50-41F8-B00C-2C98AB3A709E}" type="presParOf" srcId="{99E959FF-12F8-4760-903B-29831D5FB3E8}" destId="{5BD0A110-58F4-4C8B-8FE1-3A024E21A403}"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FC091A-0D97-4F02-B0C0-B2F6DE47ACE7}"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12D78AE3-F997-43E1-8329-33E8771E9BF3}">
      <dgm:prSet/>
      <dgm:spPr/>
      <dgm:t>
        <a:bodyPr/>
        <a:lstStyle/>
        <a:p>
          <a:r>
            <a:rPr lang="en-US"/>
            <a:t>Agile improved communication and collaboration </a:t>
          </a:r>
        </a:p>
      </dgm:t>
    </dgm:pt>
    <dgm:pt modelId="{9778D503-2C5A-45D9-A7B7-4590E3EB8C10}" type="parTrans" cxnId="{6C81025B-BEDE-439A-89B1-DA82F3EA5945}">
      <dgm:prSet/>
      <dgm:spPr/>
      <dgm:t>
        <a:bodyPr/>
        <a:lstStyle/>
        <a:p>
          <a:endParaRPr lang="en-US"/>
        </a:p>
      </dgm:t>
    </dgm:pt>
    <dgm:pt modelId="{D30F9266-D40C-4624-8B1E-E37A12894815}" type="sibTrans" cxnId="{6C81025B-BEDE-439A-89B1-DA82F3EA5945}">
      <dgm:prSet/>
      <dgm:spPr/>
      <dgm:t>
        <a:bodyPr/>
        <a:lstStyle/>
        <a:p>
          <a:endParaRPr lang="en-US"/>
        </a:p>
      </dgm:t>
    </dgm:pt>
    <dgm:pt modelId="{9812D0CF-DFB7-46FE-9C05-3971A9C369B8}">
      <dgm:prSet/>
      <dgm:spPr/>
      <dgm:t>
        <a:bodyPr/>
        <a:lstStyle/>
        <a:p>
          <a:r>
            <a:rPr lang="en-US"/>
            <a:t>Allowed flexibility during requirement changes </a:t>
          </a:r>
        </a:p>
      </dgm:t>
    </dgm:pt>
    <dgm:pt modelId="{CB49AADA-E946-4668-96CE-EBE4FE441B5D}" type="parTrans" cxnId="{772C172C-F6E4-4A53-B691-4BC2E0A38CE2}">
      <dgm:prSet/>
      <dgm:spPr/>
      <dgm:t>
        <a:bodyPr/>
        <a:lstStyle/>
        <a:p>
          <a:endParaRPr lang="en-US"/>
        </a:p>
      </dgm:t>
    </dgm:pt>
    <dgm:pt modelId="{09C7AC77-CC88-45A4-AB2B-65D1464CE2A3}" type="sibTrans" cxnId="{772C172C-F6E4-4A53-B691-4BC2E0A38CE2}">
      <dgm:prSet/>
      <dgm:spPr/>
      <dgm:t>
        <a:bodyPr/>
        <a:lstStyle/>
        <a:p>
          <a:endParaRPr lang="en-US"/>
        </a:p>
      </dgm:t>
    </dgm:pt>
    <dgm:pt modelId="{19F8C2DB-AF7C-4A80-8E9D-EE751FF8ECCA}">
      <dgm:prSet/>
      <dgm:spPr/>
      <dgm:t>
        <a:bodyPr/>
        <a:lstStyle/>
        <a:p>
          <a:r>
            <a:rPr lang="en-US"/>
            <a:t>Delivered higher quality results </a:t>
          </a:r>
        </a:p>
      </dgm:t>
    </dgm:pt>
    <dgm:pt modelId="{12027767-FD21-4ED2-AE84-E96EEF87B781}" type="parTrans" cxnId="{E397B872-300F-4A90-875B-04DEF2DF9CA7}">
      <dgm:prSet/>
      <dgm:spPr/>
      <dgm:t>
        <a:bodyPr/>
        <a:lstStyle/>
        <a:p>
          <a:endParaRPr lang="en-US"/>
        </a:p>
      </dgm:t>
    </dgm:pt>
    <dgm:pt modelId="{744CF36C-1053-40EF-917D-2FBA10AD7B8F}" type="sibTrans" cxnId="{E397B872-300F-4A90-875B-04DEF2DF9CA7}">
      <dgm:prSet/>
      <dgm:spPr/>
      <dgm:t>
        <a:bodyPr/>
        <a:lstStyle/>
        <a:p>
          <a:endParaRPr lang="en-US"/>
        </a:p>
      </dgm:t>
    </dgm:pt>
    <dgm:pt modelId="{D0AC7B0B-95F9-4DD6-BB9B-32E13C8663E7}">
      <dgm:prSet/>
      <dgm:spPr/>
      <dgm:t>
        <a:bodyPr/>
        <a:lstStyle/>
        <a:p>
          <a:r>
            <a:rPr lang="en-US"/>
            <a:t>Recommended for SNHU Travel project</a:t>
          </a:r>
        </a:p>
      </dgm:t>
    </dgm:pt>
    <dgm:pt modelId="{947028BA-C826-40E7-B4AF-B01894B2176C}" type="parTrans" cxnId="{6E51F6A1-DA4C-4D5E-B598-EF21E7505E89}">
      <dgm:prSet/>
      <dgm:spPr/>
      <dgm:t>
        <a:bodyPr/>
        <a:lstStyle/>
        <a:p>
          <a:endParaRPr lang="en-US"/>
        </a:p>
      </dgm:t>
    </dgm:pt>
    <dgm:pt modelId="{BF55BC2F-73BF-4DBF-BC19-C8758AEF7CB0}" type="sibTrans" cxnId="{6E51F6A1-DA4C-4D5E-B598-EF21E7505E89}">
      <dgm:prSet/>
      <dgm:spPr/>
      <dgm:t>
        <a:bodyPr/>
        <a:lstStyle/>
        <a:p>
          <a:endParaRPr lang="en-US"/>
        </a:p>
      </dgm:t>
    </dgm:pt>
    <dgm:pt modelId="{36B2A6B5-5B27-4FAE-B57E-485752F01A02}" type="pres">
      <dgm:prSet presAssocID="{1BFC091A-0D97-4F02-B0C0-B2F6DE47ACE7}" presName="linear" presStyleCnt="0">
        <dgm:presLayoutVars>
          <dgm:animLvl val="lvl"/>
          <dgm:resizeHandles val="exact"/>
        </dgm:presLayoutVars>
      </dgm:prSet>
      <dgm:spPr/>
    </dgm:pt>
    <dgm:pt modelId="{9F1607D5-C637-4565-A80B-F7746CEFB538}" type="pres">
      <dgm:prSet presAssocID="{12D78AE3-F997-43E1-8329-33E8771E9BF3}" presName="parentText" presStyleLbl="node1" presStyleIdx="0" presStyleCnt="4">
        <dgm:presLayoutVars>
          <dgm:chMax val="0"/>
          <dgm:bulletEnabled val="1"/>
        </dgm:presLayoutVars>
      </dgm:prSet>
      <dgm:spPr/>
    </dgm:pt>
    <dgm:pt modelId="{FDC5F88C-DE8B-4B1F-998B-6CEDF9B27D7F}" type="pres">
      <dgm:prSet presAssocID="{D30F9266-D40C-4624-8B1E-E37A12894815}" presName="spacer" presStyleCnt="0"/>
      <dgm:spPr/>
    </dgm:pt>
    <dgm:pt modelId="{B7CE34DC-B2CE-4716-B554-69B9B54C479D}" type="pres">
      <dgm:prSet presAssocID="{9812D0CF-DFB7-46FE-9C05-3971A9C369B8}" presName="parentText" presStyleLbl="node1" presStyleIdx="1" presStyleCnt="4">
        <dgm:presLayoutVars>
          <dgm:chMax val="0"/>
          <dgm:bulletEnabled val="1"/>
        </dgm:presLayoutVars>
      </dgm:prSet>
      <dgm:spPr/>
    </dgm:pt>
    <dgm:pt modelId="{AE9E322D-5EC0-4225-A1CB-5673E33ACABC}" type="pres">
      <dgm:prSet presAssocID="{09C7AC77-CC88-45A4-AB2B-65D1464CE2A3}" presName="spacer" presStyleCnt="0"/>
      <dgm:spPr/>
    </dgm:pt>
    <dgm:pt modelId="{1F9DF954-90D9-4514-BA51-1261A735193E}" type="pres">
      <dgm:prSet presAssocID="{19F8C2DB-AF7C-4A80-8E9D-EE751FF8ECCA}" presName="parentText" presStyleLbl="node1" presStyleIdx="2" presStyleCnt="4">
        <dgm:presLayoutVars>
          <dgm:chMax val="0"/>
          <dgm:bulletEnabled val="1"/>
        </dgm:presLayoutVars>
      </dgm:prSet>
      <dgm:spPr/>
    </dgm:pt>
    <dgm:pt modelId="{333BF302-F9AD-4CF9-8A60-0E0F5ED1BD79}" type="pres">
      <dgm:prSet presAssocID="{744CF36C-1053-40EF-917D-2FBA10AD7B8F}" presName="spacer" presStyleCnt="0"/>
      <dgm:spPr/>
    </dgm:pt>
    <dgm:pt modelId="{052B74E8-734F-4BBF-A3C0-08DCC480316D}" type="pres">
      <dgm:prSet presAssocID="{D0AC7B0B-95F9-4DD6-BB9B-32E13C8663E7}" presName="parentText" presStyleLbl="node1" presStyleIdx="3" presStyleCnt="4">
        <dgm:presLayoutVars>
          <dgm:chMax val="0"/>
          <dgm:bulletEnabled val="1"/>
        </dgm:presLayoutVars>
      </dgm:prSet>
      <dgm:spPr/>
    </dgm:pt>
  </dgm:ptLst>
  <dgm:cxnLst>
    <dgm:cxn modelId="{FED4E427-60DD-4FC1-A550-DC01CD31CFDC}" type="presOf" srcId="{D0AC7B0B-95F9-4DD6-BB9B-32E13C8663E7}" destId="{052B74E8-734F-4BBF-A3C0-08DCC480316D}" srcOrd="0" destOrd="0" presId="urn:microsoft.com/office/officeart/2005/8/layout/vList2"/>
    <dgm:cxn modelId="{772C172C-F6E4-4A53-B691-4BC2E0A38CE2}" srcId="{1BFC091A-0D97-4F02-B0C0-B2F6DE47ACE7}" destId="{9812D0CF-DFB7-46FE-9C05-3971A9C369B8}" srcOrd="1" destOrd="0" parTransId="{CB49AADA-E946-4668-96CE-EBE4FE441B5D}" sibTransId="{09C7AC77-CC88-45A4-AB2B-65D1464CE2A3}"/>
    <dgm:cxn modelId="{6C81025B-BEDE-439A-89B1-DA82F3EA5945}" srcId="{1BFC091A-0D97-4F02-B0C0-B2F6DE47ACE7}" destId="{12D78AE3-F997-43E1-8329-33E8771E9BF3}" srcOrd="0" destOrd="0" parTransId="{9778D503-2C5A-45D9-A7B7-4590E3EB8C10}" sibTransId="{D30F9266-D40C-4624-8B1E-E37A12894815}"/>
    <dgm:cxn modelId="{1C98B961-094C-4B91-9702-692D6D38B294}" type="presOf" srcId="{12D78AE3-F997-43E1-8329-33E8771E9BF3}" destId="{9F1607D5-C637-4565-A80B-F7746CEFB538}" srcOrd="0" destOrd="0" presId="urn:microsoft.com/office/officeart/2005/8/layout/vList2"/>
    <dgm:cxn modelId="{57930D6A-E4D1-4D94-9F6F-6CF4A2BD1B92}" type="presOf" srcId="{19F8C2DB-AF7C-4A80-8E9D-EE751FF8ECCA}" destId="{1F9DF954-90D9-4514-BA51-1261A735193E}" srcOrd="0" destOrd="0" presId="urn:microsoft.com/office/officeart/2005/8/layout/vList2"/>
    <dgm:cxn modelId="{E397B872-300F-4A90-875B-04DEF2DF9CA7}" srcId="{1BFC091A-0D97-4F02-B0C0-B2F6DE47ACE7}" destId="{19F8C2DB-AF7C-4A80-8E9D-EE751FF8ECCA}" srcOrd="2" destOrd="0" parTransId="{12027767-FD21-4ED2-AE84-E96EEF87B781}" sibTransId="{744CF36C-1053-40EF-917D-2FBA10AD7B8F}"/>
    <dgm:cxn modelId="{6E51F6A1-DA4C-4D5E-B598-EF21E7505E89}" srcId="{1BFC091A-0D97-4F02-B0C0-B2F6DE47ACE7}" destId="{D0AC7B0B-95F9-4DD6-BB9B-32E13C8663E7}" srcOrd="3" destOrd="0" parTransId="{947028BA-C826-40E7-B4AF-B01894B2176C}" sibTransId="{BF55BC2F-73BF-4DBF-BC19-C8758AEF7CB0}"/>
    <dgm:cxn modelId="{13B243B4-D26F-4830-AF16-85CD01017CDF}" type="presOf" srcId="{1BFC091A-0D97-4F02-B0C0-B2F6DE47ACE7}" destId="{36B2A6B5-5B27-4FAE-B57E-485752F01A02}" srcOrd="0" destOrd="0" presId="urn:microsoft.com/office/officeart/2005/8/layout/vList2"/>
    <dgm:cxn modelId="{ACBF42F4-291E-4BDE-B3CB-5C56352C6BDE}" type="presOf" srcId="{9812D0CF-DFB7-46FE-9C05-3971A9C369B8}" destId="{B7CE34DC-B2CE-4716-B554-69B9B54C479D}" srcOrd="0" destOrd="0" presId="urn:microsoft.com/office/officeart/2005/8/layout/vList2"/>
    <dgm:cxn modelId="{FDEEE86D-7324-477B-A5B7-0D94475C950F}" type="presParOf" srcId="{36B2A6B5-5B27-4FAE-B57E-485752F01A02}" destId="{9F1607D5-C637-4565-A80B-F7746CEFB538}" srcOrd="0" destOrd="0" presId="urn:microsoft.com/office/officeart/2005/8/layout/vList2"/>
    <dgm:cxn modelId="{725D0B64-81C1-4FCA-A2FB-B8E35C9151DD}" type="presParOf" srcId="{36B2A6B5-5B27-4FAE-B57E-485752F01A02}" destId="{FDC5F88C-DE8B-4B1F-998B-6CEDF9B27D7F}" srcOrd="1" destOrd="0" presId="urn:microsoft.com/office/officeart/2005/8/layout/vList2"/>
    <dgm:cxn modelId="{7E5DF17C-9F97-4748-82C7-8049893706C3}" type="presParOf" srcId="{36B2A6B5-5B27-4FAE-B57E-485752F01A02}" destId="{B7CE34DC-B2CE-4716-B554-69B9B54C479D}" srcOrd="2" destOrd="0" presId="urn:microsoft.com/office/officeart/2005/8/layout/vList2"/>
    <dgm:cxn modelId="{36636785-71A6-41BD-99BF-4BE294D03E49}" type="presParOf" srcId="{36B2A6B5-5B27-4FAE-B57E-485752F01A02}" destId="{AE9E322D-5EC0-4225-A1CB-5673E33ACABC}" srcOrd="3" destOrd="0" presId="urn:microsoft.com/office/officeart/2005/8/layout/vList2"/>
    <dgm:cxn modelId="{3FD3A395-6895-456D-8655-4E6108109168}" type="presParOf" srcId="{36B2A6B5-5B27-4FAE-B57E-485752F01A02}" destId="{1F9DF954-90D9-4514-BA51-1261A735193E}" srcOrd="4" destOrd="0" presId="urn:microsoft.com/office/officeart/2005/8/layout/vList2"/>
    <dgm:cxn modelId="{CFD12873-CEAE-4633-8D4D-2E483FD07A9C}" type="presParOf" srcId="{36B2A6B5-5B27-4FAE-B57E-485752F01A02}" destId="{333BF302-F9AD-4CF9-8A60-0E0F5ED1BD79}" srcOrd="5" destOrd="0" presId="urn:microsoft.com/office/officeart/2005/8/layout/vList2"/>
    <dgm:cxn modelId="{D1D1D943-CE54-4848-8A08-5A3A2962EC42}" type="presParOf" srcId="{36B2A6B5-5B27-4FAE-B57E-485752F01A02}" destId="{052B74E8-734F-4BBF-A3C0-08DCC480316D}"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6EF8B3-3BA9-4B14-8482-3116CCF99B14}"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20AB598F-8760-4D22-97A2-B585B42493BC}">
      <dgm:prSet/>
      <dgm:spPr/>
      <dgm:t>
        <a:bodyPr/>
        <a:lstStyle/>
        <a:p>
          <a:pPr>
            <a:defRPr cap="all"/>
          </a:pPr>
          <a:r>
            <a:rPr lang="en-US"/>
            <a:t>Beck, K., et al. (2021). Manifesto for Agile software development.</a:t>
          </a:r>
        </a:p>
      </dgm:t>
    </dgm:pt>
    <dgm:pt modelId="{0228923D-AC58-4D4A-8AF4-9725E78471A5}" type="parTrans" cxnId="{C6101925-BE89-4525-A7FB-B0CCEE3DE783}">
      <dgm:prSet/>
      <dgm:spPr/>
      <dgm:t>
        <a:bodyPr/>
        <a:lstStyle/>
        <a:p>
          <a:endParaRPr lang="en-US"/>
        </a:p>
      </dgm:t>
    </dgm:pt>
    <dgm:pt modelId="{654B185B-52FD-4B1A-93B1-FF7501FC9EC7}" type="sibTrans" cxnId="{C6101925-BE89-4525-A7FB-B0CCEE3DE783}">
      <dgm:prSet/>
      <dgm:spPr/>
      <dgm:t>
        <a:bodyPr/>
        <a:lstStyle/>
        <a:p>
          <a:endParaRPr lang="en-US"/>
        </a:p>
      </dgm:t>
    </dgm:pt>
    <dgm:pt modelId="{06980DD7-50BE-46BD-8A31-E066BCC8B94C}">
      <dgm:prSet/>
      <dgm:spPr/>
      <dgm:t>
        <a:bodyPr/>
        <a:lstStyle/>
        <a:p>
          <a:pPr>
            <a:defRPr cap="all"/>
          </a:pPr>
          <a:r>
            <a:rPr lang="en-US"/>
            <a:t>Schwaber, K., &amp; Sutherland, J. (2020). The Scrum Guide.</a:t>
          </a:r>
        </a:p>
      </dgm:t>
    </dgm:pt>
    <dgm:pt modelId="{894CFC93-2D05-45AF-BE5B-8B64299FFEA8}" type="parTrans" cxnId="{6E02A1AA-D23A-4844-9761-22EACC375E40}">
      <dgm:prSet/>
      <dgm:spPr/>
      <dgm:t>
        <a:bodyPr/>
        <a:lstStyle/>
        <a:p>
          <a:endParaRPr lang="en-US"/>
        </a:p>
      </dgm:t>
    </dgm:pt>
    <dgm:pt modelId="{829ED77B-861D-49D9-819B-63A8BD1A1DBA}" type="sibTrans" cxnId="{6E02A1AA-D23A-4844-9761-22EACC375E40}">
      <dgm:prSet/>
      <dgm:spPr/>
      <dgm:t>
        <a:bodyPr/>
        <a:lstStyle/>
        <a:p>
          <a:endParaRPr lang="en-US"/>
        </a:p>
      </dgm:t>
    </dgm:pt>
    <dgm:pt modelId="{E04D9D2C-2758-4426-BA36-C62A4F448CF7}">
      <dgm:prSet/>
      <dgm:spPr/>
      <dgm:t>
        <a:bodyPr/>
        <a:lstStyle/>
        <a:p>
          <a:pPr>
            <a:defRPr cap="all"/>
          </a:pPr>
          <a:r>
            <a:rPr lang="en-US"/>
            <a:t>Natarajan, T., &amp; Pichai, S. (2024). Behaviour driven development.</a:t>
          </a:r>
        </a:p>
      </dgm:t>
    </dgm:pt>
    <dgm:pt modelId="{2A6B0D24-0B55-4571-BA70-CBCAB9F7547D}" type="parTrans" cxnId="{BF86533A-11E3-41A4-952B-0EFB57D414F7}">
      <dgm:prSet/>
      <dgm:spPr/>
      <dgm:t>
        <a:bodyPr/>
        <a:lstStyle/>
        <a:p>
          <a:endParaRPr lang="en-US"/>
        </a:p>
      </dgm:t>
    </dgm:pt>
    <dgm:pt modelId="{B8F802D2-7B6C-4B32-AB15-E3C16F250E4A}" type="sibTrans" cxnId="{BF86533A-11E3-41A4-952B-0EFB57D414F7}">
      <dgm:prSet/>
      <dgm:spPr/>
      <dgm:t>
        <a:bodyPr/>
        <a:lstStyle/>
        <a:p>
          <a:endParaRPr lang="en-US"/>
        </a:p>
      </dgm:t>
    </dgm:pt>
    <dgm:pt modelId="{AA6B7A00-575C-4433-A2AF-597149384807}">
      <dgm:prSet/>
      <dgm:spPr/>
      <dgm:t>
        <a:bodyPr/>
        <a:lstStyle/>
        <a:p>
          <a:pPr>
            <a:defRPr cap="all"/>
          </a:pPr>
          <a:r>
            <a:rPr lang="en-US"/>
            <a:t>Truong, D. M., Xu, L., &amp; de Vrieze, P. T. (2025). Scrum team effectiveness.</a:t>
          </a:r>
        </a:p>
      </dgm:t>
    </dgm:pt>
    <dgm:pt modelId="{659ADE35-841F-4C29-9CAA-413418770D97}" type="parTrans" cxnId="{F00819BB-0FB6-4125-A014-C4E7CFBFC58F}">
      <dgm:prSet/>
      <dgm:spPr/>
      <dgm:t>
        <a:bodyPr/>
        <a:lstStyle/>
        <a:p>
          <a:endParaRPr lang="en-US"/>
        </a:p>
      </dgm:t>
    </dgm:pt>
    <dgm:pt modelId="{DC1BB12B-037C-4A13-82C2-6A720732A61A}" type="sibTrans" cxnId="{F00819BB-0FB6-4125-A014-C4E7CFBFC58F}">
      <dgm:prSet/>
      <dgm:spPr/>
      <dgm:t>
        <a:bodyPr/>
        <a:lstStyle/>
        <a:p>
          <a:endParaRPr lang="en-US"/>
        </a:p>
      </dgm:t>
    </dgm:pt>
    <dgm:pt modelId="{89020631-E11E-4710-B78F-AC00929C7428}" type="pres">
      <dgm:prSet presAssocID="{816EF8B3-3BA9-4B14-8482-3116CCF99B14}" presName="root" presStyleCnt="0">
        <dgm:presLayoutVars>
          <dgm:dir/>
          <dgm:resizeHandles val="exact"/>
        </dgm:presLayoutVars>
      </dgm:prSet>
      <dgm:spPr/>
    </dgm:pt>
    <dgm:pt modelId="{26A5EF21-8E2D-43C4-B317-F513AB0DDA6A}" type="pres">
      <dgm:prSet presAssocID="{20AB598F-8760-4D22-97A2-B585B42493BC}" presName="compNode" presStyleCnt="0"/>
      <dgm:spPr/>
    </dgm:pt>
    <dgm:pt modelId="{034C4FDB-3CB9-4F64-96FE-50F57B638B1E}" type="pres">
      <dgm:prSet presAssocID="{20AB598F-8760-4D22-97A2-B585B42493BC}" presName="iconBgRect" presStyleLbl="bgShp" presStyleIdx="0" presStyleCnt="4"/>
      <dgm:spPr>
        <a:prstGeom prst="round2DiagRect">
          <a:avLst>
            <a:gd name="adj1" fmla="val 29727"/>
            <a:gd name="adj2" fmla="val 0"/>
          </a:avLst>
        </a:prstGeom>
      </dgm:spPr>
    </dgm:pt>
    <dgm:pt modelId="{734231FC-89BD-42AF-8708-653BFB09EF2C}" type="pres">
      <dgm:prSet presAssocID="{20AB598F-8760-4D22-97A2-B585B42493B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6C459841-B7FF-477A-9DD5-6825EA64E2BC}" type="pres">
      <dgm:prSet presAssocID="{20AB598F-8760-4D22-97A2-B585B42493BC}" presName="spaceRect" presStyleCnt="0"/>
      <dgm:spPr/>
    </dgm:pt>
    <dgm:pt modelId="{D9027DC6-4C4C-4DE9-B6D6-498411A1DCD2}" type="pres">
      <dgm:prSet presAssocID="{20AB598F-8760-4D22-97A2-B585B42493BC}" presName="textRect" presStyleLbl="revTx" presStyleIdx="0" presStyleCnt="4">
        <dgm:presLayoutVars>
          <dgm:chMax val="1"/>
          <dgm:chPref val="1"/>
        </dgm:presLayoutVars>
      </dgm:prSet>
      <dgm:spPr/>
    </dgm:pt>
    <dgm:pt modelId="{DF390DF4-7B05-4A85-B662-DCC83DF9F644}" type="pres">
      <dgm:prSet presAssocID="{654B185B-52FD-4B1A-93B1-FF7501FC9EC7}" presName="sibTrans" presStyleCnt="0"/>
      <dgm:spPr/>
    </dgm:pt>
    <dgm:pt modelId="{1FCEA103-9A6F-4307-92DB-950A5DF3538E}" type="pres">
      <dgm:prSet presAssocID="{06980DD7-50BE-46BD-8A31-E066BCC8B94C}" presName="compNode" presStyleCnt="0"/>
      <dgm:spPr/>
    </dgm:pt>
    <dgm:pt modelId="{6D7F3751-DAD9-4E16-96CB-69D05DA7F49D}" type="pres">
      <dgm:prSet presAssocID="{06980DD7-50BE-46BD-8A31-E066BCC8B94C}" presName="iconBgRect" presStyleLbl="bgShp" presStyleIdx="1" presStyleCnt="4"/>
      <dgm:spPr>
        <a:prstGeom prst="round2DiagRect">
          <a:avLst>
            <a:gd name="adj1" fmla="val 29727"/>
            <a:gd name="adj2" fmla="val 0"/>
          </a:avLst>
        </a:prstGeom>
      </dgm:spPr>
    </dgm:pt>
    <dgm:pt modelId="{0013F000-7C9E-4C53-AF78-3665B3793B3E}" type="pres">
      <dgm:prSet presAssocID="{06980DD7-50BE-46BD-8A31-E066BCC8B94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on Viewing Ceremony"/>
        </a:ext>
      </dgm:extLst>
    </dgm:pt>
    <dgm:pt modelId="{81CA73FF-A74A-475C-BC80-C90C3E1F61D2}" type="pres">
      <dgm:prSet presAssocID="{06980DD7-50BE-46BD-8A31-E066BCC8B94C}" presName="spaceRect" presStyleCnt="0"/>
      <dgm:spPr/>
    </dgm:pt>
    <dgm:pt modelId="{F655A400-6F38-4979-90F5-8AADC2BC5DF3}" type="pres">
      <dgm:prSet presAssocID="{06980DD7-50BE-46BD-8A31-E066BCC8B94C}" presName="textRect" presStyleLbl="revTx" presStyleIdx="1" presStyleCnt="4">
        <dgm:presLayoutVars>
          <dgm:chMax val="1"/>
          <dgm:chPref val="1"/>
        </dgm:presLayoutVars>
      </dgm:prSet>
      <dgm:spPr/>
    </dgm:pt>
    <dgm:pt modelId="{E6EA74E6-F86C-40E1-98C3-99259987ECB5}" type="pres">
      <dgm:prSet presAssocID="{829ED77B-861D-49D9-819B-63A8BD1A1DBA}" presName="sibTrans" presStyleCnt="0"/>
      <dgm:spPr/>
    </dgm:pt>
    <dgm:pt modelId="{D3426689-9EC5-46E1-A429-364DFBAE8039}" type="pres">
      <dgm:prSet presAssocID="{E04D9D2C-2758-4426-BA36-C62A4F448CF7}" presName="compNode" presStyleCnt="0"/>
      <dgm:spPr/>
    </dgm:pt>
    <dgm:pt modelId="{38058541-8F08-40D4-AFD4-77E32AC68009}" type="pres">
      <dgm:prSet presAssocID="{E04D9D2C-2758-4426-BA36-C62A4F448CF7}" presName="iconBgRect" presStyleLbl="bgShp" presStyleIdx="2" presStyleCnt="4"/>
      <dgm:spPr>
        <a:prstGeom prst="round2DiagRect">
          <a:avLst>
            <a:gd name="adj1" fmla="val 29727"/>
            <a:gd name="adj2" fmla="val 0"/>
          </a:avLst>
        </a:prstGeom>
      </dgm:spPr>
    </dgm:pt>
    <dgm:pt modelId="{142B49D6-3CBB-4CE6-8E62-779322ACD13F}" type="pres">
      <dgm:prSet presAssocID="{E04D9D2C-2758-4426-BA36-C62A4F448CF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ustomer Review"/>
        </a:ext>
      </dgm:extLst>
    </dgm:pt>
    <dgm:pt modelId="{AA370131-5B76-45B5-B98F-DFBAB87707D1}" type="pres">
      <dgm:prSet presAssocID="{E04D9D2C-2758-4426-BA36-C62A4F448CF7}" presName="spaceRect" presStyleCnt="0"/>
      <dgm:spPr/>
    </dgm:pt>
    <dgm:pt modelId="{3D17B5D6-CDA0-46BF-8609-8F11BAB687B2}" type="pres">
      <dgm:prSet presAssocID="{E04D9D2C-2758-4426-BA36-C62A4F448CF7}" presName="textRect" presStyleLbl="revTx" presStyleIdx="2" presStyleCnt="4">
        <dgm:presLayoutVars>
          <dgm:chMax val="1"/>
          <dgm:chPref val="1"/>
        </dgm:presLayoutVars>
      </dgm:prSet>
      <dgm:spPr/>
    </dgm:pt>
    <dgm:pt modelId="{D6C50B45-3715-41C0-BCF5-BA6BBC0575FD}" type="pres">
      <dgm:prSet presAssocID="{B8F802D2-7B6C-4B32-AB15-E3C16F250E4A}" presName="sibTrans" presStyleCnt="0"/>
      <dgm:spPr/>
    </dgm:pt>
    <dgm:pt modelId="{A2A2CBAF-374C-45CC-89DB-3A3C7F542DE1}" type="pres">
      <dgm:prSet presAssocID="{AA6B7A00-575C-4433-A2AF-597149384807}" presName="compNode" presStyleCnt="0"/>
      <dgm:spPr/>
    </dgm:pt>
    <dgm:pt modelId="{0FE4FFD2-946C-43B0-B6CE-A8E7EBA5EAAA}" type="pres">
      <dgm:prSet presAssocID="{AA6B7A00-575C-4433-A2AF-597149384807}" presName="iconBgRect" presStyleLbl="bgShp" presStyleIdx="3" presStyleCnt="4"/>
      <dgm:spPr>
        <a:prstGeom prst="round2DiagRect">
          <a:avLst>
            <a:gd name="adj1" fmla="val 29727"/>
            <a:gd name="adj2" fmla="val 0"/>
          </a:avLst>
        </a:prstGeom>
      </dgm:spPr>
    </dgm:pt>
    <dgm:pt modelId="{59B4ECFD-52E3-4874-B312-0E4AD8303525}" type="pres">
      <dgm:prSet presAssocID="{AA6B7A00-575C-4433-A2AF-597149384807}"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keting"/>
        </a:ext>
      </dgm:extLst>
    </dgm:pt>
    <dgm:pt modelId="{083FA1BF-CBCC-4AD5-AD04-E38418198B5E}" type="pres">
      <dgm:prSet presAssocID="{AA6B7A00-575C-4433-A2AF-597149384807}" presName="spaceRect" presStyleCnt="0"/>
      <dgm:spPr/>
    </dgm:pt>
    <dgm:pt modelId="{CBE8A80D-B470-4E5D-9B23-B5EE2924E9FB}" type="pres">
      <dgm:prSet presAssocID="{AA6B7A00-575C-4433-A2AF-597149384807}" presName="textRect" presStyleLbl="revTx" presStyleIdx="3" presStyleCnt="4">
        <dgm:presLayoutVars>
          <dgm:chMax val="1"/>
          <dgm:chPref val="1"/>
        </dgm:presLayoutVars>
      </dgm:prSet>
      <dgm:spPr/>
    </dgm:pt>
  </dgm:ptLst>
  <dgm:cxnLst>
    <dgm:cxn modelId="{C6101925-BE89-4525-A7FB-B0CCEE3DE783}" srcId="{816EF8B3-3BA9-4B14-8482-3116CCF99B14}" destId="{20AB598F-8760-4D22-97A2-B585B42493BC}" srcOrd="0" destOrd="0" parTransId="{0228923D-AC58-4D4A-8AF4-9725E78471A5}" sibTransId="{654B185B-52FD-4B1A-93B1-FF7501FC9EC7}"/>
    <dgm:cxn modelId="{BF86533A-11E3-41A4-952B-0EFB57D414F7}" srcId="{816EF8B3-3BA9-4B14-8482-3116CCF99B14}" destId="{E04D9D2C-2758-4426-BA36-C62A4F448CF7}" srcOrd="2" destOrd="0" parTransId="{2A6B0D24-0B55-4571-BA70-CBCAB9F7547D}" sibTransId="{B8F802D2-7B6C-4B32-AB15-E3C16F250E4A}"/>
    <dgm:cxn modelId="{692CC845-14E7-4F31-933E-C53063990F45}" type="presOf" srcId="{20AB598F-8760-4D22-97A2-B585B42493BC}" destId="{D9027DC6-4C4C-4DE9-B6D6-498411A1DCD2}" srcOrd="0" destOrd="0" presId="urn:microsoft.com/office/officeart/2018/5/layout/IconLeafLabelList"/>
    <dgm:cxn modelId="{E746046F-195B-4482-A951-50CFA1E486AF}" type="presOf" srcId="{06980DD7-50BE-46BD-8A31-E066BCC8B94C}" destId="{F655A400-6F38-4979-90F5-8AADC2BC5DF3}" srcOrd="0" destOrd="0" presId="urn:microsoft.com/office/officeart/2018/5/layout/IconLeafLabelList"/>
    <dgm:cxn modelId="{104D5F50-64AB-4428-8278-92B905F185B5}" type="presOf" srcId="{816EF8B3-3BA9-4B14-8482-3116CCF99B14}" destId="{89020631-E11E-4710-B78F-AC00929C7428}" srcOrd="0" destOrd="0" presId="urn:microsoft.com/office/officeart/2018/5/layout/IconLeafLabelList"/>
    <dgm:cxn modelId="{6E02A1AA-D23A-4844-9761-22EACC375E40}" srcId="{816EF8B3-3BA9-4B14-8482-3116CCF99B14}" destId="{06980DD7-50BE-46BD-8A31-E066BCC8B94C}" srcOrd="1" destOrd="0" parTransId="{894CFC93-2D05-45AF-BE5B-8B64299FFEA8}" sibTransId="{829ED77B-861D-49D9-819B-63A8BD1A1DBA}"/>
    <dgm:cxn modelId="{A12300B1-0BBB-45C5-ABB2-8469103C55E4}" type="presOf" srcId="{AA6B7A00-575C-4433-A2AF-597149384807}" destId="{CBE8A80D-B470-4E5D-9B23-B5EE2924E9FB}" srcOrd="0" destOrd="0" presId="urn:microsoft.com/office/officeart/2018/5/layout/IconLeafLabelList"/>
    <dgm:cxn modelId="{F00819BB-0FB6-4125-A014-C4E7CFBFC58F}" srcId="{816EF8B3-3BA9-4B14-8482-3116CCF99B14}" destId="{AA6B7A00-575C-4433-A2AF-597149384807}" srcOrd="3" destOrd="0" parTransId="{659ADE35-841F-4C29-9CAA-413418770D97}" sibTransId="{DC1BB12B-037C-4A13-82C2-6A720732A61A}"/>
    <dgm:cxn modelId="{68663BEF-93EA-4C72-B35D-B2E19038AE7C}" type="presOf" srcId="{E04D9D2C-2758-4426-BA36-C62A4F448CF7}" destId="{3D17B5D6-CDA0-46BF-8609-8F11BAB687B2}" srcOrd="0" destOrd="0" presId="urn:microsoft.com/office/officeart/2018/5/layout/IconLeafLabelList"/>
    <dgm:cxn modelId="{ED7ECC1A-C59B-4C66-9BD7-0CA743CCDF40}" type="presParOf" srcId="{89020631-E11E-4710-B78F-AC00929C7428}" destId="{26A5EF21-8E2D-43C4-B317-F513AB0DDA6A}" srcOrd="0" destOrd="0" presId="urn:microsoft.com/office/officeart/2018/5/layout/IconLeafLabelList"/>
    <dgm:cxn modelId="{F3EABE5A-6BB6-4A31-8A4D-0F8372AE9424}" type="presParOf" srcId="{26A5EF21-8E2D-43C4-B317-F513AB0DDA6A}" destId="{034C4FDB-3CB9-4F64-96FE-50F57B638B1E}" srcOrd="0" destOrd="0" presId="urn:microsoft.com/office/officeart/2018/5/layout/IconLeafLabelList"/>
    <dgm:cxn modelId="{40D5D4B7-B50F-44E1-B8CF-401AD9C8B05E}" type="presParOf" srcId="{26A5EF21-8E2D-43C4-B317-F513AB0DDA6A}" destId="{734231FC-89BD-42AF-8708-653BFB09EF2C}" srcOrd="1" destOrd="0" presId="urn:microsoft.com/office/officeart/2018/5/layout/IconLeafLabelList"/>
    <dgm:cxn modelId="{86A562A4-9A97-4C7F-92DC-123581211481}" type="presParOf" srcId="{26A5EF21-8E2D-43C4-B317-F513AB0DDA6A}" destId="{6C459841-B7FF-477A-9DD5-6825EA64E2BC}" srcOrd="2" destOrd="0" presId="urn:microsoft.com/office/officeart/2018/5/layout/IconLeafLabelList"/>
    <dgm:cxn modelId="{D1D61BC9-B0E9-4ED3-BA7C-B97456689CDA}" type="presParOf" srcId="{26A5EF21-8E2D-43C4-B317-F513AB0DDA6A}" destId="{D9027DC6-4C4C-4DE9-B6D6-498411A1DCD2}" srcOrd="3" destOrd="0" presId="urn:microsoft.com/office/officeart/2018/5/layout/IconLeafLabelList"/>
    <dgm:cxn modelId="{B2547AEE-7E6F-4377-BDF9-47A3F22900E4}" type="presParOf" srcId="{89020631-E11E-4710-B78F-AC00929C7428}" destId="{DF390DF4-7B05-4A85-B662-DCC83DF9F644}" srcOrd="1" destOrd="0" presId="urn:microsoft.com/office/officeart/2018/5/layout/IconLeafLabelList"/>
    <dgm:cxn modelId="{05129B8B-254B-4FFA-8CCD-8432DF815A23}" type="presParOf" srcId="{89020631-E11E-4710-B78F-AC00929C7428}" destId="{1FCEA103-9A6F-4307-92DB-950A5DF3538E}" srcOrd="2" destOrd="0" presId="urn:microsoft.com/office/officeart/2018/5/layout/IconLeafLabelList"/>
    <dgm:cxn modelId="{B449D943-09C6-445D-867F-9E36962A03D2}" type="presParOf" srcId="{1FCEA103-9A6F-4307-92DB-950A5DF3538E}" destId="{6D7F3751-DAD9-4E16-96CB-69D05DA7F49D}" srcOrd="0" destOrd="0" presId="urn:microsoft.com/office/officeart/2018/5/layout/IconLeafLabelList"/>
    <dgm:cxn modelId="{BF65D02D-D890-47B0-AE05-EDCE1920C376}" type="presParOf" srcId="{1FCEA103-9A6F-4307-92DB-950A5DF3538E}" destId="{0013F000-7C9E-4C53-AF78-3665B3793B3E}" srcOrd="1" destOrd="0" presId="urn:microsoft.com/office/officeart/2018/5/layout/IconLeafLabelList"/>
    <dgm:cxn modelId="{16459C25-2536-4ACB-8A33-BE096CC8E3E5}" type="presParOf" srcId="{1FCEA103-9A6F-4307-92DB-950A5DF3538E}" destId="{81CA73FF-A74A-475C-BC80-C90C3E1F61D2}" srcOrd="2" destOrd="0" presId="urn:microsoft.com/office/officeart/2018/5/layout/IconLeafLabelList"/>
    <dgm:cxn modelId="{6BCAE456-1838-4B70-9865-1A95C0B6FCF5}" type="presParOf" srcId="{1FCEA103-9A6F-4307-92DB-950A5DF3538E}" destId="{F655A400-6F38-4979-90F5-8AADC2BC5DF3}" srcOrd="3" destOrd="0" presId="urn:microsoft.com/office/officeart/2018/5/layout/IconLeafLabelList"/>
    <dgm:cxn modelId="{AEF1D4CC-6FD8-494F-9FD7-5C01DC13AB2C}" type="presParOf" srcId="{89020631-E11E-4710-B78F-AC00929C7428}" destId="{E6EA74E6-F86C-40E1-98C3-99259987ECB5}" srcOrd="3" destOrd="0" presId="urn:microsoft.com/office/officeart/2018/5/layout/IconLeafLabelList"/>
    <dgm:cxn modelId="{50C385FC-1B17-465B-8749-853CE7401503}" type="presParOf" srcId="{89020631-E11E-4710-B78F-AC00929C7428}" destId="{D3426689-9EC5-46E1-A429-364DFBAE8039}" srcOrd="4" destOrd="0" presId="urn:microsoft.com/office/officeart/2018/5/layout/IconLeafLabelList"/>
    <dgm:cxn modelId="{621A13BE-2675-4748-B3B9-AA22FDB97BCC}" type="presParOf" srcId="{D3426689-9EC5-46E1-A429-364DFBAE8039}" destId="{38058541-8F08-40D4-AFD4-77E32AC68009}" srcOrd="0" destOrd="0" presId="urn:microsoft.com/office/officeart/2018/5/layout/IconLeafLabelList"/>
    <dgm:cxn modelId="{B0E79E23-366A-4478-BE77-EDDF18C455A5}" type="presParOf" srcId="{D3426689-9EC5-46E1-A429-364DFBAE8039}" destId="{142B49D6-3CBB-4CE6-8E62-779322ACD13F}" srcOrd="1" destOrd="0" presId="urn:microsoft.com/office/officeart/2018/5/layout/IconLeafLabelList"/>
    <dgm:cxn modelId="{9378A352-3707-4520-98BA-DF7D89AFE4C7}" type="presParOf" srcId="{D3426689-9EC5-46E1-A429-364DFBAE8039}" destId="{AA370131-5B76-45B5-B98F-DFBAB87707D1}" srcOrd="2" destOrd="0" presId="urn:microsoft.com/office/officeart/2018/5/layout/IconLeafLabelList"/>
    <dgm:cxn modelId="{642DFFF4-8E9B-423C-BB5A-0EA27F228A3B}" type="presParOf" srcId="{D3426689-9EC5-46E1-A429-364DFBAE8039}" destId="{3D17B5D6-CDA0-46BF-8609-8F11BAB687B2}" srcOrd="3" destOrd="0" presId="urn:microsoft.com/office/officeart/2018/5/layout/IconLeafLabelList"/>
    <dgm:cxn modelId="{1C00A745-41C7-49BF-9E1D-FF2477E8D60A}" type="presParOf" srcId="{89020631-E11E-4710-B78F-AC00929C7428}" destId="{D6C50B45-3715-41C0-BCF5-BA6BBC0575FD}" srcOrd="5" destOrd="0" presId="urn:microsoft.com/office/officeart/2018/5/layout/IconLeafLabelList"/>
    <dgm:cxn modelId="{2B4BB65D-5886-43CC-B514-835E481FE4A5}" type="presParOf" srcId="{89020631-E11E-4710-B78F-AC00929C7428}" destId="{A2A2CBAF-374C-45CC-89DB-3A3C7F542DE1}" srcOrd="6" destOrd="0" presId="urn:microsoft.com/office/officeart/2018/5/layout/IconLeafLabelList"/>
    <dgm:cxn modelId="{43F6E592-D924-4DE6-BB88-F3E837147F4E}" type="presParOf" srcId="{A2A2CBAF-374C-45CC-89DB-3A3C7F542DE1}" destId="{0FE4FFD2-946C-43B0-B6CE-A8E7EBA5EAAA}" srcOrd="0" destOrd="0" presId="urn:microsoft.com/office/officeart/2018/5/layout/IconLeafLabelList"/>
    <dgm:cxn modelId="{B479D5AD-5E98-43D7-8AD4-8A4AD51DD16A}" type="presParOf" srcId="{A2A2CBAF-374C-45CC-89DB-3A3C7F542DE1}" destId="{59B4ECFD-52E3-4874-B312-0E4AD8303525}" srcOrd="1" destOrd="0" presId="urn:microsoft.com/office/officeart/2018/5/layout/IconLeafLabelList"/>
    <dgm:cxn modelId="{8C19762E-2730-4557-9532-AAA1BBCE4693}" type="presParOf" srcId="{A2A2CBAF-374C-45CC-89DB-3A3C7F542DE1}" destId="{083FA1BF-CBCC-4AD5-AD04-E38418198B5E}" srcOrd="2" destOrd="0" presId="urn:microsoft.com/office/officeart/2018/5/layout/IconLeafLabelList"/>
    <dgm:cxn modelId="{3239C86E-80F4-4491-8C78-2904C8C992C2}" type="presParOf" srcId="{A2A2CBAF-374C-45CC-89DB-3A3C7F542DE1}" destId="{CBE8A80D-B470-4E5D-9B23-B5EE2924E9FB}"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11658A-EAE9-422B-A706-CCA6F8207F0D}">
      <dsp:nvSpPr>
        <dsp:cNvPr id="0" name=""/>
        <dsp:cNvSpPr/>
      </dsp:nvSpPr>
      <dsp:spPr>
        <a:xfrm>
          <a:off x="606456" y="0"/>
          <a:ext cx="5453920" cy="545392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667804C-ED0F-482C-B18F-348DBA6EB77F}">
      <dsp:nvSpPr>
        <dsp:cNvPr id="0" name=""/>
        <dsp:cNvSpPr/>
      </dsp:nvSpPr>
      <dsp:spPr>
        <a:xfrm>
          <a:off x="1124578" y="518122"/>
          <a:ext cx="2127028" cy="2127028"/>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Linear and sequential process </a:t>
          </a:r>
        </a:p>
      </dsp:txBody>
      <dsp:txXfrm>
        <a:off x="1228411" y="621955"/>
        <a:ext cx="1919362" cy="1919362"/>
      </dsp:txXfrm>
    </dsp:sp>
    <dsp:sp modelId="{107FEA43-D058-4A95-B727-5B82AB020717}">
      <dsp:nvSpPr>
        <dsp:cNvPr id="0" name=""/>
        <dsp:cNvSpPr/>
      </dsp:nvSpPr>
      <dsp:spPr>
        <a:xfrm>
          <a:off x="3415225" y="518122"/>
          <a:ext cx="2127028" cy="2127028"/>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Each phase must be completed before moving forward </a:t>
          </a:r>
        </a:p>
      </dsp:txBody>
      <dsp:txXfrm>
        <a:off x="3519058" y="621955"/>
        <a:ext cx="1919362" cy="1919362"/>
      </dsp:txXfrm>
    </dsp:sp>
    <dsp:sp modelId="{68497BC8-26AC-4A07-9E71-B73496422025}">
      <dsp:nvSpPr>
        <dsp:cNvPr id="0" name=""/>
        <dsp:cNvSpPr/>
      </dsp:nvSpPr>
      <dsp:spPr>
        <a:xfrm>
          <a:off x="1124578" y="2808768"/>
          <a:ext cx="2127028" cy="2127028"/>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Limited flexibility for changes </a:t>
          </a:r>
        </a:p>
      </dsp:txBody>
      <dsp:txXfrm>
        <a:off x="1228411" y="2912601"/>
        <a:ext cx="1919362" cy="1919362"/>
      </dsp:txXfrm>
    </dsp:sp>
    <dsp:sp modelId="{5BD0A110-58F4-4C8B-8FE1-3A024E21A403}">
      <dsp:nvSpPr>
        <dsp:cNvPr id="0" name=""/>
        <dsp:cNvSpPr/>
      </dsp:nvSpPr>
      <dsp:spPr>
        <a:xfrm>
          <a:off x="3415225" y="2808768"/>
          <a:ext cx="2127028" cy="212702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Testing occurs at the end</a:t>
          </a:r>
        </a:p>
      </dsp:txBody>
      <dsp:txXfrm>
        <a:off x="3519058" y="2912601"/>
        <a:ext cx="1919362" cy="19193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607D5-C637-4565-A80B-F7746CEFB538}">
      <dsp:nvSpPr>
        <dsp:cNvPr id="0" name=""/>
        <dsp:cNvSpPr/>
      </dsp:nvSpPr>
      <dsp:spPr>
        <a:xfrm>
          <a:off x="0" y="42799"/>
          <a:ext cx="6666833" cy="12729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Agile improved communication and collaboration </a:t>
          </a:r>
        </a:p>
      </dsp:txBody>
      <dsp:txXfrm>
        <a:off x="62141" y="104940"/>
        <a:ext cx="6542551" cy="1148678"/>
      </dsp:txXfrm>
    </dsp:sp>
    <dsp:sp modelId="{B7CE34DC-B2CE-4716-B554-69B9B54C479D}">
      <dsp:nvSpPr>
        <dsp:cNvPr id="0" name=""/>
        <dsp:cNvSpPr/>
      </dsp:nvSpPr>
      <dsp:spPr>
        <a:xfrm>
          <a:off x="0" y="1407919"/>
          <a:ext cx="6666833" cy="1272960"/>
        </a:xfrm>
        <a:prstGeom prst="round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Allowed flexibility during requirement changes </a:t>
          </a:r>
        </a:p>
      </dsp:txBody>
      <dsp:txXfrm>
        <a:off x="62141" y="1470060"/>
        <a:ext cx="6542551" cy="1148678"/>
      </dsp:txXfrm>
    </dsp:sp>
    <dsp:sp modelId="{1F9DF954-90D9-4514-BA51-1261A735193E}">
      <dsp:nvSpPr>
        <dsp:cNvPr id="0" name=""/>
        <dsp:cNvSpPr/>
      </dsp:nvSpPr>
      <dsp:spPr>
        <a:xfrm>
          <a:off x="0" y="2773040"/>
          <a:ext cx="6666833" cy="1272960"/>
        </a:xfrm>
        <a:prstGeom prst="round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Delivered higher quality results </a:t>
          </a:r>
        </a:p>
      </dsp:txBody>
      <dsp:txXfrm>
        <a:off x="62141" y="2835181"/>
        <a:ext cx="6542551" cy="1148678"/>
      </dsp:txXfrm>
    </dsp:sp>
    <dsp:sp modelId="{052B74E8-734F-4BBF-A3C0-08DCC480316D}">
      <dsp:nvSpPr>
        <dsp:cNvPr id="0" name=""/>
        <dsp:cNvSpPr/>
      </dsp:nvSpPr>
      <dsp:spPr>
        <a:xfrm>
          <a:off x="0" y="4138160"/>
          <a:ext cx="6666833" cy="127296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Recommended for SNHU Travel project</a:t>
          </a:r>
        </a:p>
      </dsp:txBody>
      <dsp:txXfrm>
        <a:off x="62141" y="4200301"/>
        <a:ext cx="6542551" cy="11486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C4FDB-3CB9-4F64-96FE-50F57B638B1E}">
      <dsp:nvSpPr>
        <dsp:cNvPr id="0" name=""/>
        <dsp:cNvSpPr/>
      </dsp:nvSpPr>
      <dsp:spPr>
        <a:xfrm>
          <a:off x="562927" y="788206"/>
          <a:ext cx="1445998" cy="1445998"/>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4231FC-89BD-42AF-8708-653BFB09EF2C}">
      <dsp:nvSpPr>
        <dsp:cNvPr id="0" name=""/>
        <dsp:cNvSpPr/>
      </dsp:nvSpPr>
      <dsp:spPr>
        <a:xfrm>
          <a:off x="871091"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027DC6-4C4C-4DE9-B6D6-498411A1DCD2}">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Beck, K., et al. (2021). Manifesto for Agile software development.</a:t>
          </a:r>
        </a:p>
      </dsp:txBody>
      <dsp:txXfrm>
        <a:off x="100682" y="2684598"/>
        <a:ext cx="2370489" cy="720000"/>
      </dsp:txXfrm>
    </dsp:sp>
    <dsp:sp modelId="{6D7F3751-DAD9-4E16-96CB-69D05DA7F49D}">
      <dsp:nvSpPr>
        <dsp:cNvPr id="0" name=""/>
        <dsp:cNvSpPr/>
      </dsp:nvSpPr>
      <dsp:spPr>
        <a:xfrm>
          <a:off x="3348252" y="788206"/>
          <a:ext cx="1445998" cy="1445998"/>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13F000-7C9E-4C53-AF78-3665B3793B3E}">
      <dsp:nvSpPr>
        <dsp:cNvPr id="0" name=""/>
        <dsp:cNvSpPr/>
      </dsp:nvSpPr>
      <dsp:spPr>
        <a:xfrm>
          <a:off x="3656416"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55A400-6F38-4979-90F5-8AADC2BC5DF3}">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Schwaber, K., &amp; Sutherland, J. (2020). The Scrum Guide.</a:t>
          </a:r>
        </a:p>
      </dsp:txBody>
      <dsp:txXfrm>
        <a:off x="2886007" y="2684598"/>
        <a:ext cx="2370489" cy="720000"/>
      </dsp:txXfrm>
    </dsp:sp>
    <dsp:sp modelId="{38058541-8F08-40D4-AFD4-77E32AC68009}">
      <dsp:nvSpPr>
        <dsp:cNvPr id="0" name=""/>
        <dsp:cNvSpPr/>
      </dsp:nvSpPr>
      <dsp:spPr>
        <a:xfrm>
          <a:off x="6133577" y="788206"/>
          <a:ext cx="1445998" cy="1445998"/>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2B49D6-3CBB-4CE6-8E62-779322ACD13F}">
      <dsp:nvSpPr>
        <dsp:cNvPr id="0" name=""/>
        <dsp:cNvSpPr/>
      </dsp:nvSpPr>
      <dsp:spPr>
        <a:xfrm>
          <a:off x="6441741"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17B5D6-CDA0-46BF-8609-8F11BAB687B2}">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Natarajan, T., &amp; Pichai, S. (2024). Behaviour driven development.</a:t>
          </a:r>
        </a:p>
      </dsp:txBody>
      <dsp:txXfrm>
        <a:off x="5671332" y="2684598"/>
        <a:ext cx="2370489" cy="720000"/>
      </dsp:txXfrm>
    </dsp:sp>
    <dsp:sp modelId="{0FE4FFD2-946C-43B0-B6CE-A8E7EBA5EAAA}">
      <dsp:nvSpPr>
        <dsp:cNvPr id="0" name=""/>
        <dsp:cNvSpPr/>
      </dsp:nvSpPr>
      <dsp:spPr>
        <a:xfrm>
          <a:off x="8918902" y="788206"/>
          <a:ext cx="1445998" cy="1445998"/>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B4ECFD-52E3-4874-B312-0E4AD8303525}">
      <dsp:nvSpPr>
        <dsp:cNvPr id="0" name=""/>
        <dsp:cNvSpPr/>
      </dsp:nvSpPr>
      <dsp:spPr>
        <a:xfrm>
          <a:off x="9227066"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E8A80D-B470-4E5D-9B23-B5EE2924E9FB}">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Truong, D. M., Xu, L., &amp; de Vrieze, P. T. (2025). Scrum team effectiveness.</a:t>
          </a:r>
        </a:p>
      </dsp:txBody>
      <dsp:txXfrm>
        <a:off x="8456657" y="2684598"/>
        <a:ext cx="2370489"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0AC50-58A0-49A6-BAC4-F31A0C652AED}" type="datetimeFigureOut">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F376D6-564C-4B4B-BC64-30FD868116A8}" type="slidenum">
              <a:t>‹#›</a:t>
            </a:fld>
            <a:endParaRPr lang="en-US"/>
          </a:p>
        </p:txBody>
      </p:sp>
    </p:spTree>
    <p:extLst>
      <p:ext uri="{BB962C8B-B14F-4D97-AF65-F5344CB8AC3E}">
        <p14:creationId xmlns:p14="http://schemas.microsoft.com/office/powerpoint/2010/main" val="2927555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of these people plays a different role on an Agile project: the Scrum Master administers the process‚ the Product Owner serves the customer‚ the development team builds and tests․ By successfully communicating with these roles on our SNHU Travel project‚ our team was able to complete the project and its tasks․</a:t>
            </a:r>
          </a:p>
        </p:txBody>
      </p:sp>
      <p:sp>
        <p:nvSpPr>
          <p:cNvPr id="4" name="Slide Number Placeholder 3"/>
          <p:cNvSpPr>
            <a:spLocks noGrp="1"/>
          </p:cNvSpPr>
          <p:nvPr>
            <p:ph type="sldNum" sz="quarter" idx="5"/>
          </p:nvPr>
        </p:nvSpPr>
        <p:spPr/>
        <p:txBody>
          <a:bodyPr/>
          <a:lstStyle/>
          <a:p>
            <a:fld id="{88F376D6-564C-4B4B-BC64-30FD868116A8}" type="slidenum">
              <a:t>2</a:t>
            </a:fld>
            <a:endParaRPr lang="en-US"/>
          </a:p>
        </p:txBody>
      </p:sp>
    </p:spTree>
    <p:extLst>
      <p:ext uri="{BB962C8B-B14F-4D97-AF65-F5344CB8AC3E}">
        <p14:creationId xmlns:p14="http://schemas.microsoft.com/office/powerpoint/2010/main" val="674137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a:t>
            </a:r>
            <a:r>
              <a:rPr lang="en-US" dirty="0" err="1"/>
              <a:t>practises</a:t>
            </a:r>
            <a:r>
              <a:rPr lang="en-US" dirty="0"/>
              <a:t> follow the software development life cycle (SDLC)․ The Agile process repeats every few weeks (iterative and incremental) in cycles called sprints․ Each sprint has the following processes: planning‚ development‚ testing‚ deployment‚ and active maintenance․ The iterative development approach allows more opportunities to fix and improve product development․ The SNHU Travel project followed this model‚ enabling team members to continually deliver value while remaining flexible in the face of changing requirements․</a:t>
            </a:r>
          </a:p>
        </p:txBody>
      </p:sp>
      <p:sp>
        <p:nvSpPr>
          <p:cNvPr id="4" name="Slide Number Placeholder 3"/>
          <p:cNvSpPr>
            <a:spLocks noGrp="1"/>
          </p:cNvSpPr>
          <p:nvPr>
            <p:ph type="sldNum" sz="quarter" idx="5"/>
          </p:nvPr>
        </p:nvSpPr>
        <p:spPr/>
        <p:txBody>
          <a:bodyPr/>
          <a:lstStyle/>
          <a:p>
            <a:fld id="{88F376D6-564C-4B4B-BC64-30FD868116A8}" type="slidenum">
              <a:t>3</a:t>
            </a:fld>
            <a:endParaRPr lang="en-US"/>
          </a:p>
        </p:txBody>
      </p:sp>
    </p:spTree>
    <p:extLst>
      <p:ext uri="{BB962C8B-B14F-4D97-AF65-F5344CB8AC3E}">
        <p14:creationId xmlns:p14="http://schemas.microsoft.com/office/powerpoint/2010/main" val="3983559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waterfall model is a linear sequential software development process in which progress is seen as flowing steadily down (like a waterfall) through a series of phases‚ including requirement specification‚ development‚ testing‚ and maintenance․ It is suited for projects with clearly defined goals but has difficulty coping with changing requirements․ Compared to Agile methodologies‚ the waterfall model is less flexible and feedback is not provided until the end of the development process‚ which increases the likelihood of errors․</a:t>
            </a:r>
          </a:p>
        </p:txBody>
      </p:sp>
      <p:sp>
        <p:nvSpPr>
          <p:cNvPr id="4" name="Slide Number Placeholder 3"/>
          <p:cNvSpPr>
            <a:spLocks noGrp="1"/>
          </p:cNvSpPr>
          <p:nvPr>
            <p:ph type="sldNum" sz="quarter" idx="5"/>
          </p:nvPr>
        </p:nvSpPr>
        <p:spPr/>
        <p:txBody>
          <a:bodyPr/>
          <a:lstStyle/>
          <a:p>
            <a:fld id="{88F376D6-564C-4B4B-BC64-30FD868116A8}" type="slidenum">
              <a:t>4</a:t>
            </a:fld>
            <a:endParaRPr lang="en-US"/>
          </a:p>
        </p:txBody>
      </p:sp>
    </p:spTree>
    <p:extLst>
      <p:ext uri="{BB962C8B-B14F-4D97-AF65-F5344CB8AC3E}">
        <p14:creationId xmlns:p14="http://schemas.microsoft.com/office/powerpoint/2010/main" val="1697037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Agile and waterfall are two different approaches to software development․ Agile software development includes those software development practices which promote a flexible and iterative method of development and delivery with continuing feedback․ A drawback to the Waterfall method is that it is very difficult to make changes to the project once work has begun․ The iterative cycle of Agile proved to be helpful for the SNHU Travel project‚ allowing the team to adapt to changes and improve the product over time․</a:t>
            </a:r>
          </a:p>
        </p:txBody>
      </p:sp>
      <p:sp>
        <p:nvSpPr>
          <p:cNvPr id="4" name="Slide Number Placeholder 3"/>
          <p:cNvSpPr>
            <a:spLocks noGrp="1"/>
          </p:cNvSpPr>
          <p:nvPr>
            <p:ph type="sldNum" sz="quarter" idx="5"/>
          </p:nvPr>
        </p:nvSpPr>
        <p:spPr/>
        <p:txBody>
          <a:bodyPr/>
          <a:lstStyle/>
          <a:p>
            <a:fld id="{88F376D6-564C-4B4B-BC64-30FD868116A8}" type="slidenum">
              <a:t>5</a:t>
            </a:fld>
            <a:endParaRPr lang="en-US"/>
          </a:p>
        </p:txBody>
      </p:sp>
    </p:spTree>
    <p:extLst>
      <p:ext uri="{BB962C8B-B14F-4D97-AF65-F5344CB8AC3E}">
        <p14:creationId xmlns:p14="http://schemas.microsoft.com/office/powerpoint/2010/main" val="1917091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however‚ can sometimes be seen as opposites‚ and the choice of which to use can come down to the client's requirements․ Agile is typically favored on projects where requirements change and evolve according to customer feedback․ It supports flexibility and iteration and is more suited to projects where requirements are known and unlikely to change (</a:t>
            </a:r>
            <a:r>
              <a:rPr lang="en-US" dirty="0" err="1"/>
              <a:t>e․g</a:t>
            </a:r>
            <a:r>
              <a:rPr lang="en-US" dirty="0"/>
              <a:t>․ Waterfall)․ Knowing the differences can help organizations choose the best methodology for their goals․</a:t>
            </a:r>
          </a:p>
        </p:txBody>
      </p:sp>
      <p:sp>
        <p:nvSpPr>
          <p:cNvPr id="4" name="Slide Number Placeholder 3"/>
          <p:cNvSpPr>
            <a:spLocks noGrp="1"/>
          </p:cNvSpPr>
          <p:nvPr>
            <p:ph type="sldNum" sz="quarter" idx="5"/>
          </p:nvPr>
        </p:nvSpPr>
        <p:spPr/>
        <p:txBody>
          <a:bodyPr/>
          <a:lstStyle/>
          <a:p>
            <a:fld id="{88F376D6-564C-4B4B-BC64-30FD868116A8}" type="slidenum">
              <a:t>6</a:t>
            </a:fld>
            <a:endParaRPr lang="en-US"/>
          </a:p>
        </p:txBody>
      </p:sp>
    </p:spTree>
    <p:extLst>
      <p:ext uri="{BB962C8B-B14F-4D97-AF65-F5344CB8AC3E}">
        <p14:creationId xmlns:p14="http://schemas.microsoft.com/office/powerpoint/2010/main" val="1331466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my experience working on the SNHU Travel project‚ I found that using the Agile methodology was superior to the waterfall methodology for our project because Agile allowed for more direct communication‚ a flexible requirements process‚ and continuous improvements to be made‚ providing a better end product․ Agile would fit future projects where flexibility and a high level of collaboration are required․</a:t>
            </a:r>
          </a:p>
        </p:txBody>
      </p:sp>
      <p:sp>
        <p:nvSpPr>
          <p:cNvPr id="4" name="Slide Number Placeholder 3"/>
          <p:cNvSpPr>
            <a:spLocks noGrp="1"/>
          </p:cNvSpPr>
          <p:nvPr>
            <p:ph type="sldNum" sz="quarter" idx="5"/>
          </p:nvPr>
        </p:nvSpPr>
        <p:spPr/>
        <p:txBody>
          <a:bodyPr/>
          <a:lstStyle/>
          <a:p>
            <a:fld id="{88F376D6-564C-4B4B-BC64-30FD868116A8}" type="slidenum">
              <a:t>7</a:t>
            </a:fld>
            <a:endParaRPr lang="en-US"/>
          </a:p>
        </p:txBody>
      </p:sp>
    </p:spTree>
    <p:extLst>
      <p:ext uri="{BB962C8B-B14F-4D97-AF65-F5344CB8AC3E}">
        <p14:creationId xmlns:p14="http://schemas.microsoft.com/office/powerpoint/2010/main" val="2722532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97762" y="640080"/>
            <a:ext cx="6251110" cy="3566160"/>
          </a:xfrm>
        </p:spPr>
        <p:txBody>
          <a:bodyPr anchor="b">
            <a:normAutofit/>
          </a:bodyPr>
          <a:lstStyle/>
          <a:p>
            <a:pPr algn="l"/>
            <a:r>
              <a:rPr lang="en-US" sz="5400">
                <a:ea typeface="+mj-lt"/>
                <a:cs typeface="+mj-lt"/>
              </a:rPr>
              <a:t>Agile vs Waterfall Development</a:t>
            </a:r>
            <a:br>
              <a:rPr lang="en-US" sz="5400">
                <a:ea typeface="+mj-lt"/>
                <a:cs typeface="+mj-lt"/>
              </a:rPr>
            </a:br>
            <a:r>
              <a:rPr lang="en-US" sz="5400">
                <a:ea typeface="+mj-lt"/>
                <a:cs typeface="+mj-lt"/>
              </a:rPr>
              <a:t> SNHU Travel Project Analysis</a:t>
            </a:r>
            <a:endParaRPr lang="en-US" sz="5400"/>
          </a:p>
        </p:txBody>
      </p:sp>
      <p:sp>
        <p:nvSpPr>
          <p:cNvPr id="3" name="Subtitle 2"/>
          <p:cNvSpPr>
            <a:spLocks noGrp="1"/>
          </p:cNvSpPr>
          <p:nvPr>
            <p:ph type="subTitle" idx="1"/>
          </p:nvPr>
        </p:nvSpPr>
        <p:spPr>
          <a:xfrm>
            <a:off x="5297760" y="4636008"/>
            <a:ext cx="6251111" cy="1572768"/>
          </a:xfrm>
        </p:spPr>
        <p:txBody>
          <a:bodyPr vert="horz" lIns="91440" tIns="45720" rIns="91440" bIns="45720" rtlCol="0">
            <a:normAutofit/>
          </a:bodyPr>
          <a:lstStyle/>
          <a:p>
            <a:pPr algn="l"/>
            <a:r>
              <a:rPr lang="en-US" sz="2200" b="1">
                <a:ea typeface="+mn-lt"/>
                <a:cs typeface="+mn-lt"/>
              </a:rPr>
              <a:t>Name:</a:t>
            </a:r>
            <a:r>
              <a:rPr lang="en-US" sz="2200">
                <a:ea typeface="+mn-lt"/>
                <a:cs typeface="+mn-lt"/>
              </a:rPr>
              <a:t> Dayshawn Robinson</a:t>
            </a:r>
            <a:br>
              <a:rPr lang="en-US" sz="2200">
                <a:ea typeface="+mn-lt"/>
                <a:cs typeface="+mn-lt"/>
              </a:rPr>
            </a:br>
            <a:r>
              <a:rPr lang="en-US" sz="2200">
                <a:ea typeface="+mn-lt"/>
                <a:cs typeface="+mn-lt"/>
              </a:rPr>
              <a:t> </a:t>
            </a:r>
            <a:r>
              <a:rPr lang="en-US" sz="2200" b="1">
                <a:ea typeface="+mn-lt"/>
                <a:cs typeface="+mn-lt"/>
              </a:rPr>
              <a:t>Course:</a:t>
            </a:r>
            <a:r>
              <a:rPr lang="en-US" sz="2200">
                <a:ea typeface="+mn-lt"/>
                <a:cs typeface="+mn-lt"/>
              </a:rPr>
              <a:t> CS 250 Software Development Life Cycle</a:t>
            </a:r>
            <a:br>
              <a:rPr lang="en-US" sz="2200">
                <a:ea typeface="+mn-lt"/>
                <a:cs typeface="+mn-lt"/>
              </a:rPr>
            </a:br>
            <a:r>
              <a:rPr lang="en-US" sz="2200">
                <a:ea typeface="+mn-lt"/>
                <a:cs typeface="+mn-lt"/>
              </a:rPr>
              <a:t> </a:t>
            </a:r>
            <a:r>
              <a:rPr lang="en-US" sz="2200" b="1">
                <a:ea typeface="+mn-lt"/>
                <a:cs typeface="+mn-lt"/>
              </a:rPr>
              <a:t>Instructor:</a:t>
            </a:r>
            <a:r>
              <a:rPr lang="en-US" sz="2200">
                <a:ea typeface="+mn-lt"/>
                <a:cs typeface="+mn-lt"/>
              </a:rPr>
              <a:t> Prof. Farley</a:t>
            </a:r>
            <a:br>
              <a:rPr lang="en-US" sz="2200">
                <a:ea typeface="+mn-lt"/>
                <a:cs typeface="+mn-lt"/>
              </a:rPr>
            </a:br>
            <a:r>
              <a:rPr lang="en-US" sz="2200">
                <a:ea typeface="+mn-lt"/>
                <a:cs typeface="+mn-lt"/>
              </a:rPr>
              <a:t> </a:t>
            </a:r>
            <a:r>
              <a:rPr lang="en-US" sz="2200" b="1">
                <a:ea typeface="+mn-lt"/>
                <a:cs typeface="+mn-lt"/>
              </a:rPr>
              <a:t>Date: </a:t>
            </a:r>
            <a:r>
              <a:rPr lang="en-US" sz="2200">
                <a:ea typeface="+mn-lt"/>
                <a:cs typeface="+mn-lt"/>
              </a:rPr>
              <a:t>4/15/26</a:t>
            </a:r>
            <a:endParaRPr lang="en-US" sz="2200"/>
          </a:p>
        </p:txBody>
      </p:sp>
      <p:pic>
        <p:nvPicPr>
          <p:cNvPr id="5" name="Picture 4">
            <a:extLst>
              <a:ext uri="{FF2B5EF4-FFF2-40B4-BE49-F238E27FC236}">
                <a16:creationId xmlns:a16="http://schemas.microsoft.com/office/drawing/2014/main" id="{A4F92D3A-5DBB-6E37-DBAD-CECFC145D300}"/>
              </a:ext>
            </a:extLst>
          </p:cNvPr>
          <p:cNvPicPr>
            <a:picLocks noChangeAspect="1"/>
          </p:cNvPicPr>
          <p:nvPr/>
        </p:nvPicPr>
        <p:blipFill>
          <a:blip r:embed="rId2"/>
          <a:srcRect l="25974" r="38214" b="6250"/>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E6155B-6DDC-172A-17DC-21FA371B3792}"/>
              </a:ext>
            </a:extLst>
          </p:cNvPr>
          <p:cNvSpPr>
            <a:spLocks noGrp="1"/>
          </p:cNvSpPr>
          <p:nvPr>
            <p:ph type="title"/>
          </p:nvPr>
        </p:nvSpPr>
        <p:spPr>
          <a:xfrm>
            <a:off x="761803" y="350196"/>
            <a:ext cx="4646904" cy="1624520"/>
          </a:xfrm>
        </p:spPr>
        <p:txBody>
          <a:bodyPr anchor="ctr">
            <a:normAutofit/>
          </a:bodyPr>
          <a:lstStyle/>
          <a:p>
            <a:r>
              <a:rPr lang="en-US" sz="4000">
                <a:ea typeface="+mj-lt"/>
                <a:cs typeface="+mj-lt"/>
              </a:rPr>
              <a:t>Key Roles in Scrum Agile</a:t>
            </a:r>
            <a:endParaRPr lang="en-US" sz="4000"/>
          </a:p>
        </p:txBody>
      </p:sp>
      <p:sp>
        <p:nvSpPr>
          <p:cNvPr id="3" name="Content Placeholder 2">
            <a:extLst>
              <a:ext uri="{FF2B5EF4-FFF2-40B4-BE49-F238E27FC236}">
                <a16:creationId xmlns:a16="http://schemas.microsoft.com/office/drawing/2014/main" id="{65C0831E-D64A-C5A7-A4A5-E3C26358A600}"/>
              </a:ext>
            </a:extLst>
          </p:cNvPr>
          <p:cNvSpPr>
            <a:spLocks noGrp="1"/>
          </p:cNvSpPr>
          <p:nvPr>
            <p:ph idx="1"/>
          </p:nvPr>
        </p:nvSpPr>
        <p:spPr>
          <a:xfrm>
            <a:off x="761802" y="2743200"/>
            <a:ext cx="4646905" cy="3613149"/>
          </a:xfrm>
        </p:spPr>
        <p:txBody>
          <a:bodyPr vert="horz" lIns="91440" tIns="45720" rIns="91440" bIns="45720" rtlCol="0" anchor="ctr">
            <a:normAutofit/>
          </a:bodyPr>
          <a:lstStyle/>
          <a:p>
            <a:pPr>
              <a:buFont typeface="Wingdings" panose="020B0604020202020204" pitchFamily="34" charset="0"/>
              <a:buChar char="§"/>
            </a:pPr>
            <a:r>
              <a:rPr lang="en-US" sz="2000">
                <a:ea typeface="+mn-lt"/>
                <a:cs typeface="+mn-lt"/>
              </a:rPr>
              <a:t>Scrum Master: Facilitates the team and removes obstacles </a:t>
            </a:r>
            <a:endParaRPr lang="en-US" sz="2000"/>
          </a:p>
          <a:p>
            <a:pPr>
              <a:buFont typeface="Wingdings" panose="020B0604020202020204" pitchFamily="34" charset="0"/>
              <a:buChar char="§"/>
            </a:pPr>
            <a:r>
              <a:rPr lang="en-US" sz="2000">
                <a:ea typeface="+mn-lt"/>
                <a:cs typeface="+mn-lt"/>
              </a:rPr>
              <a:t>Product Owner: Defines requirements and prioritizes work </a:t>
            </a:r>
            <a:endParaRPr lang="en-US" sz="2000"/>
          </a:p>
          <a:p>
            <a:pPr>
              <a:buFont typeface="Wingdings" panose="020B0604020202020204" pitchFamily="34" charset="0"/>
              <a:buChar char="§"/>
            </a:pPr>
            <a:r>
              <a:rPr lang="en-US" sz="2000">
                <a:ea typeface="+mn-lt"/>
                <a:cs typeface="+mn-lt"/>
              </a:rPr>
              <a:t>Development Team: Builds and tests the product </a:t>
            </a:r>
            <a:endParaRPr lang="en-US" sz="2000"/>
          </a:p>
          <a:p>
            <a:pPr>
              <a:buFont typeface="Wingdings" panose="020B0604020202020204" pitchFamily="34" charset="0"/>
              <a:buChar char="§"/>
            </a:pPr>
            <a:r>
              <a:rPr lang="en-US" sz="2000">
                <a:ea typeface="+mn-lt"/>
                <a:cs typeface="+mn-lt"/>
              </a:rPr>
              <a:t>Collaboration between roles ensures project success</a:t>
            </a:r>
            <a:endParaRPr lang="en-US" sz="2000"/>
          </a:p>
          <a:p>
            <a:pPr>
              <a:buFont typeface="Wingdings" panose="020B0604020202020204" pitchFamily="34" charset="0"/>
              <a:buChar char="§"/>
            </a:pPr>
            <a:endParaRPr lang="en-US" sz="2000"/>
          </a:p>
        </p:txBody>
      </p:sp>
      <p:pic>
        <p:nvPicPr>
          <p:cNvPr id="5" name="Picture 4" descr="People at the meeting desk">
            <a:extLst>
              <a:ext uri="{FF2B5EF4-FFF2-40B4-BE49-F238E27FC236}">
                <a16:creationId xmlns:a16="http://schemas.microsoft.com/office/drawing/2014/main" id="{994D82AB-EB19-77A8-6D1F-12F802D6D654}"/>
              </a:ext>
            </a:extLst>
          </p:cNvPr>
          <p:cNvPicPr>
            <a:picLocks noChangeAspect="1"/>
          </p:cNvPicPr>
          <p:nvPr/>
        </p:nvPicPr>
        <p:blipFill>
          <a:blip r:embed="rId3"/>
          <a:srcRect l="19465" r="30478" b="-2"/>
          <a:stretch>
            <a:fillRect/>
          </a:stretch>
        </p:blipFill>
        <p:spPr>
          <a:xfrm>
            <a:off x="6096000" y="1"/>
            <a:ext cx="6102825" cy="6858000"/>
          </a:xfrm>
          <a:prstGeom prst="rect">
            <a:avLst/>
          </a:prstGeom>
        </p:spPr>
      </p:pic>
    </p:spTree>
    <p:extLst>
      <p:ext uri="{BB962C8B-B14F-4D97-AF65-F5344CB8AC3E}">
        <p14:creationId xmlns:p14="http://schemas.microsoft.com/office/powerpoint/2010/main" val="3785173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F01431-BE1E-ED3F-FF18-D8E4792F415F}"/>
              </a:ext>
            </a:extLst>
          </p:cNvPr>
          <p:cNvSpPr>
            <a:spLocks noGrp="1"/>
          </p:cNvSpPr>
          <p:nvPr>
            <p:ph type="title"/>
          </p:nvPr>
        </p:nvSpPr>
        <p:spPr>
          <a:xfrm>
            <a:off x="761803" y="350196"/>
            <a:ext cx="4646904" cy="1624520"/>
          </a:xfrm>
        </p:spPr>
        <p:txBody>
          <a:bodyPr anchor="ctr">
            <a:normAutofit/>
          </a:bodyPr>
          <a:lstStyle/>
          <a:p>
            <a:r>
              <a:rPr lang="en-US" sz="3700">
                <a:ea typeface="+mj-lt"/>
                <a:cs typeface="+mj-lt"/>
              </a:rPr>
              <a:t>Agile Software Development Life Cycle</a:t>
            </a:r>
            <a:endParaRPr lang="en-US" sz="3700"/>
          </a:p>
        </p:txBody>
      </p:sp>
      <p:sp>
        <p:nvSpPr>
          <p:cNvPr id="3" name="Content Placeholder 2">
            <a:extLst>
              <a:ext uri="{FF2B5EF4-FFF2-40B4-BE49-F238E27FC236}">
                <a16:creationId xmlns:a16="http://schemas.microsoft.com/office/drawing/2014/main" id="{A9309ECF-FA55-DCA1-0432-81FDDED11ADE}"/>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a:ea typeface="+mn-lt"/>
                <a:cs typeface="+mn-lt"/>
              </a:rPr>
              <a:t>Planning: Define user stories and backlog </a:t>
            </a:r>
            <a:endParaRPr lang="en-US" sz="2000"/>
          </a:p>
          <a:p>
            <a:r>
              <a:rPr lang="en-US" sz="2000">
                <a:ea typeface="+mn-lt"/>
                <a:cs typeface="+mn-lt"/>
              </a:rPr>
              <a:t>Development: Build features in short iterations </a:t>
            </a:r>
            <a:endParaRPr lang="en-US" sz="2000"/>
          </a:p>
          <a:p>
            <a:r>
              <a:rPr lang="en-US" sz="2000">
                <a:ea typeface="+mn-lt"/>
                <a:cs typeface="+mn-lt"/>
              </a:rPr>
              <a:t>Testing: Continuous testing during development </a:t>
            </a:r>
            <a:endParaRPr lang="en-US" sz="2000"/>
          </a:p>
          <a:p>
            <a:r>
              <a:rPr lang="en-US" sz="2000">
                <a:ea typeface="+mn-lt"/>
                <a:cs typeface="+mn-lt"/>
              </a:rPr>
              <a:t>Deployment: Release working features </a:t>
            </a:r>
            <a:endParaRPr lang="en-US" sz="2000"/>
          </a:p>
          <a:p>
            <a:r>
              <a:rPr lang="en-US" sz="2000">
                <a:ea typeface="+mn-lt"/>
                <a:cs typeface="+mn-lt"/>
              </a:rPr>
              <a:t>Maintenance: Ongoing updates and improvements</a:t>
            </a:r>
            <a:endParaRPr lang="en-US" sz="2000"/>
          </a:p>
          <a:p>
            <a:endParaRPr lang="en-US" sz="2000"/>
          </a:p>
        </p:txBody>
      </p:sp>
      <p:pic>
        <p:nvPicPr>
          <p:cNvPr id="5" name="Picture 4" descr="Computer script on a screen">
            <a:extLst>
              <a:ext uri="{FF2B5EF4-FFF2-40B4-BE49-F238E27FC236}">
                <a16:creationId xmlns:a16="http://schemas.microsoft.com/office/drawing/2014/main" id="{A4E220C2-A33C-23BF-1442-4ABB2F6C6E78}"/>
              </a:ext>
            </a:extLst>
          </p:cNvPr>
          <p:cNvPicPr>
            <a:picLocks noChangeAspect="1"/>
          </p:cNvPicPr>
          <p:nvPr/>
        </p:nvPicPr>
        <p:blipFill>
          <a:blip r:embed="rId3"/>
          <a:srcRect l="1853" r="38834" b="-3"/>
          <a:stretch>
            <a:fillRect/>
          </a:stretch>
        </p:blipFill>
        <p:spPr>
          <a:xfrm>
            <a:off x="6096000" y="1"/>
            <a:ext cx="6102825" cy="6858000"/>
          </a:xfrm>
          <a:prstGeom prst="rect">
            <a:avLst/>
          </a:prstGeom>
        </p:spPr>
      </p:pic>
    </p:spTree>
    <p:extLst>
      <p:ext uri="{BB962C8B-B14F-4D97-AF65-F5344CB8AC3E}">
        <p14:creationId xmlns:p14="http://schemas.microsoft.com/office/powerpoint/2010/main" val="4244522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BF5FE9-AE92-67D5-598E-C62ECDEF1545}"/>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ea typeface="+mj-lt"/>
                <a:cs typeface="+mj-lt"/>
              </a:rPr>
              <a:t>Waterfall Approach</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8CBBF58A-BA4F-C43E-1EE3-CC2E5DAE2979}"/>
              </a:ext>
            </a:extLst>
          </p:cNvPr>
          <p:cNvGraphicFramePr>
            <a:graphicFrameLocks noGrp="1"/>
          </p:cNvGraphicFramePr>
          <p:nvPr>
            <p:ph idx="1"/>
            <p:extLst>
              <p:ext uri="{D42A27DB-BD31-4B8C-83A1-F6EECF244321}">
                <p14:modId xmlns:p14="http://schemas.microsoft.com/office/powerpoint/2010/main" val="12089022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2317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8E9E4F-A190-4314-9A70-AEEA4A61463D}"/>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ea typeface="+mj-lt"/>
                <a:cs typeface="+mj-lt"/>
              </a:rPr>
              <a:t>Agile vs Waterfall</a:t>
            </a:r>
            <a:endParaRPr lang="en-US" sz="4000">
              <a:solidFill>
                <a:srgbClr val="FFFFFF"/>
              </a:solidFill>
            </a:endParaRPr>
          </a:p>
        </p:txBody>
      </p:sp>
      <p:graphicFrame>
        <p:nvGraphicFramePr>
          <p:cNvPr id="12" name="Content Placeholder 11">
            <a:extLst>
              <a:ext uri="{FF2B5EF4-FFF2-40B4-BE49-F238E27FC236}">
                <a16:creationId xmlns:a16="http://schemas.microsoft.com/office/drawing/2014/main" id="{5C85E93D-1F6A-7160-9AD0-1D3E26882AA3}"/>
              </a:ext>
            </a:extLst>
          </p:cNvPr>
          <p:cNvGraphicFramePr>
            <a:graphicFrameLocks noGrp="1"/>
          </p:cNvGraphicFramePr>
          <p:nvPr>
            <p:ph idx="1"/>
            <p:extLst>
              <p:ext uri="{D42A27DB-BD31-4B8C-83A1-F6EECF244321}">
                <p14:modId xmlns:p14="http://schemas.microsoft.com/office/powerpoint/2010/main" val="3727525967"/>
              </p:ext>
            </p:extLst>
          </p:nvPr>
        </p:nvGraphicFramePr>
        <p:xfrm>
          <a:off x="1349470" y="2112579"/>
          <a:ext cx="9517002" cy="4192808"/>
        </p:xfrm>
        <a:graphic>
          <a:graphicData uri="http://schemas.openxmlformats.org/drawingml/2006/table">
            <a:tbl>
              <a:tblPr firstRow="1" bandRow="1">
                <a:tableStyleId>{5C22544A-7EE6-4342-B048-85BDC9FD1C3A}</a:tableStyleId>
              </a:tblPr>
              <a:tblGrid>
                <a:gridCol w="4280155">
                  <a:extLst>
                    <a:ext uri="{9D8B030D-6E8A-4147-A177-3AD203B41FA5}">
                      <a16:colId xmlns:a16="http://schemas.microsoft.com/office/drawing/2014/main" val="2133956755"/>
                    </a:ext>
                  </a:extLst>
                </a:gridCol>
                <a:gridCol w="5236847">
                  <a:extLst>
                    <a:ext uri="{9D8B030D-6E8A-4147-A177-3AD203B41FA5}">
                      <a16:colId xmlns:a16="http://schemas.microsoft.com/office/drawing/2014/main" val="1503343549"/>
                    </a:ext>
                  </a:extLst>
                </a:gridCol>
              </a:tblGrid>
              <a:tr h="658870">
                <a:tc>
                  <a:txBody>
                    <a:bodyPr/>
                    <a:lstStyle/>
                    <a:p>
                      <a:r>
                        <a:rPr lang="en-US" sz="2900"/>
                        <a:t>AGILE</a:t>
                      </a:r>
                    </a:p>
                  </a:txBody>
                  <a:tcPr marL="149743" marR="149743" marT="74872" marB="74872"/>
                </a:tc>
                <a:tc>
                  <a:txBody>
                    <a:bodyPr/>
                    <a:lstStyle/>
                    <a:p>
                      <a:r>
                        <a:rPr lang="en-US" sz="2900"/>
                        <a:t>WATERFALL</a:t>
                      </a:r>
                    </a:p>
                  </a:txBody>
                  <a:tcPr marL="149743" marR="149743" marT="74872" marB="74872"/>
                </a:tc>
                <a:extLst>
                  <a:ext uri="{0D108BD9-81ED-4DB2-BD59-A6C34878D82A}">
                    <a16:rowId xmlns:a16="http://schemas.microsoft.com/office/drawing/2014/main" val="1510930651"/>
                  </a:ext>
                </a:extLst>
              </a:tr>
              <a:tr h="1557328">
                <a:tc>
                  <a:txBody>
                    <a:bodyPr/>
                    <a:lstStyle/>
                    <a:p>
                      <a:pPr lvl="0" algn="l">
                        <a:lnSpc>
                          <a:spcPct val="100000"/>
                        </a:lnSpc>
                        <a:spcBef>
                          <a:spcPts val="0"/>
                        </a:spcBef>
                        <a:spcAft>
                          <a:spcPts val="0"/>
                        </a:spcAft>
                        <a:buNone/>
                      </a:pPr>
                      <a:r>
                        <a:rPr lang="en-US" sz="2900"/>
                        <a:t>Flexible and adaptive</a:t>
                      </a:r>
                    </a:p>
                    <a:p>
                      <a:pPr lvl="0" algn="l">
                        <a:lnSpc>
                          <a:spcPct val="100000"/>
                        </a:lnSpc>
                        <a:spcBef>
                          <a:spcPts val="0"/>
                        </a:spcBef>
                        <a:spcAft>
                          <a:spcPts val="0"/>
                        </a:spcAft>
                        <a:buNone/>
                      </a:pPr>
                      <a:endParaRPr lang="en-US" sz="2900"/>
                    </a:p>
                    <a:p>
                      <a:pPr lvl="0">
                        <a:buNone/>
                      </a:pPr>
                      <a:endParaRPr lang="en-US" sz="2900"/>
                    </a:p>
                  </a:txBody>
                  <a:tcPr marL="149743" marR="149743" marT="74872" marB="74872"/>
                </a:tc>
                <a:tc>
                  <a:txBody>
                    <a:bodyPr/>
                    <a:lstStyle/>
                    <a:p>
                      <a:pPr lvl="0">
                        <a:buNone/>
                      </a:pPr>
                      <a:r>
                        <a:rPr lang="en-US" sz="2900" b="0" i="0" u="none" strike="noStrike" noProof="0">
                          <a:solidFill>
                            <a:srgbClr val="000000"/>
                          </a:solidFill>
                          <a:latin typeface="Aptos"/>
                        </a:rPr>
                        <a:t>Rigid and structured</a:t>
                      </a:r>
                      <a:endParaRPr lang="en-US" sz="2900"/>
                    </a:p>
                  </a:txBody>
                  <a:tcPr marL="149743" marR="149743" marT="74872" marB="74872"/>
                </a:tc>
                <a:extLst>
                  <a:ext uri="{0D108BD9-81ED-4DB2-BD59-A6C34878D82A}">
                    <a16:rowId xmlns:a16="http://schemas.microsoft.com/office/drawing/2014/main" val="1643498427"/>
                  </a:ext>
                </a:extLst>
              </a:tr>
              <a:tr h="658870">
                <a:tc>
                  <a:txBody>
                    <a:bodyPr/>
                    <a:lstStyle/>
                    <a:p>
                      <a:r>
                        <a:rPr lang="en-US" sz="2900"/>
                        <a:t>Continuous feedback</a:t>
                      </a:r>
                    </a:p>
                  </a:txBody>
                  <a:tcPr marL="149743" marR="149743" marT="74872" marB="74872"/>
                </a:tc>
                <a:tc>
                  <a:txBody>
                    <a:bodyPr/>
                    <a:lstStyle/>
                    <a:p>
                      <a:r>
                        <a:rPr lang="en-US" sz="2900"/>
                        <a:t>Feedback at the end</a:t>
                      </a:r>
                    </a:p>
                  </a:txBody>
                  <a:tcPr marL="149743" marR="149743" marT="74872" marB="74872"/>
                </a:tc>
                <a:extLst>
                  <a:ext uri="{0D108BD9-81ED-4DB2-BD59-A6C34878D82A}">
                    <a16:rowId xmlns:a16="http://schemas.microsoft.com/office/drawing/2014/main" val="3646098626"/>
                  </a:ext>
                </a:extLst>
              </a:tr>
              <a:tr h="658870">
                <a:tc>
                  <a:txBody>
                    <a:bodyPr/>
                    <a:lstStyle/>
                    <a:p>
                      <a:r>
                        <a:rPr lang="en-US" sz="2900"/>
                        <a:t>Iterative development</a:t>
                      </a:r>
                    </a:p>
                  </a:txBody>
                  <a:tcPr marL="149743" marR="149743" marT="74872" marB="74872"/>
                </a:tc>
                <a:tc>
                  <a:txBody>
                    <a:bodyPr/>
                    <a:lstStyle/>
                    <a:p>
                      <a:r>
                        <a:rPr lang="en-US" sz="2900"/>
                        <a:t>One time development cycle</a:t>
                      </a:r>
                    </a:p>
                  </a:txBody>
                  <a:tcPr marL="149743" marR="149743" marT="74872" marB="74872"/>
                </a:tc>
                <a:extLst>
                  <a:ext uri="{0D108BD9-81ED-4DB2-BD59-A6C34878D82A}">
                    <a16:rowId xmlns:a16="http://schemas.microsoft.com/office/drawing/2014/main" val="106972154"/>
                  </a:ext>
                </a:extLst>
              </a:tr>
              <a:tr h="658870">
                <a:tc>
                  <a:txBody>
                    <a:bodyPr/>
                    <a:lstStyle/>
                    <a:p>
                      <a:r>
                        <a:rPr lang="en-US" sz="2900"/>
                        <a:t>Handles change </a:t>
                      </a:r>
                      <a:r>
                        <a:rPr lang="en-US" sz="2900" err="1"/>
                        <a:t>eas</a:t>
                      </a:r>
                      <a:r>
                        <a:rPr lang="en-US" sz="2900"/>
                        <a:t>ily</a:t>
                      </a:r>
                    </a:p>
                  </a:txBody>
                  <a:tcPr marL="149743" marR="149743" marT="74872" marB="74872"/>
                </a:tc>
                <a:tc>
                  <a:txBody>
                    <a:bodyPr/>
                    <a:lstStyle/>
                    <a:p>
                      <a:r>
                        <a:rPr lang="en-US" sz="2900"/>
                        <a:t>Difficult to handle change</a:t>
                      </a:r>
                    </a:p>
                  </a:txBody>
                  <a:tcPr marL="149743" marR="149743" marT="74872" marB="74872"/>
                </a:tc>
                <a:extLst>
                  <a:ext uri="{0D108BD9-81ED-4DB2-BD59-A6C34878D82A}">
                    <a16:rowId xmlns:a16="http://schemas.microsoft.com/office/drawing/2014/main" val="685471799"/>
                  </a:ext>
                </a:extLst>
              </a:tr>
            </a:tbl>
          </a:graphicData>
        </a:graphic>
      </p:graphicFrame>
    </p:spTree>
    <p:extLst>
      <p:ext uri="{BB962C8B-B14F-4D97-AF65-F5344CB8AC3E}">
        <p14:creationId xmlns:p14="http://schemas.microsoft.com/office/powerpoint/2010/main" val="1089852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1E8EA3-A42D-FA91-4C0A-C77292A4BF48}"/>
              </a:ext>
            </a:extLst>
          </p:cNvPr>
          <p:cNvSpPr>
            <a:spLocks noGrp="1"/>
          </p:cNvSpPr>
          <p:nvPr>
            <p:ph type="title"/>
          </p:nvPr>
        </p:nvSpPr>
        <p:spPr>
          <a:xfrm>
            <a:off x="761803" y="350196"/>
            <a:ext cx="4646904" cy="1624520"/>
          </a:xfrm>
        </p:spPr>
        <p:txBody>
          <a:bodyPr anchor="ctr">
            <a:normAutofit/>
          </a:bodyPr>
          <a:lstStyle/>
          <a:p>
            <a:r>
              <a:rPr lang="en-US" sz="4000">
                <a:ea typeface="+mj-lt"/>
                <a:cs typeface="+mj-lt"/>
              </a:rPr>
              <a:t>When to Use Agile or Waterfall</a:t>
            </a:r>
            <a:endParaRPr lang="en-US" sz="4000"/>
          </a:p>
        </p:txBody>
      </p:sp>
      <p:sp>
        <p:nvSpPr>
          <p:cNvPr id="3" name="Content Placeholder 2">
            <a:extLst>
              <a:ext uri="{FF2B5EF4-FFF2-40B4-BE49-F238E27FC236}">
                <a16:creationId xmlns:a16="http://schemas.microsoft.com/office/drawing/2014/main" id="{FEC511DD-F6CE-7F92-FF34-A21A1F990B1B}"/>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buNone/>
            </a:pPr>
            <a:r>
              <a:rPr lang="en-US" sz="2000">
                <a:ea typeface="+mn-lt"/>
                <a:cs typeface="+mn-lt"/>
              </a:rPr>
              <a:t>Agile is best for: </a:t>
            </a:r>
            <a:endParaRPr lang="en-US" sz="2000"/>
          </a:p>
          <a:p>
            <a:r>
              <a:rPr lang="en-US" sz="2000">
                <a:ea typeface="+mn-lt"/>
                <a:cs typeface="+mn-lt"/>
              </a:rPr>
              <a:t>Projects with changing requirements </a:t>
            </a:r>
            <a:endParaRPr lang="en-US" sz="2000"/>
          </a:p>
          <a:p>
            <a:r>
              <a:rPr lang="en-US" sz="2000">
                <a:ea typeface="+mn-lt"/>
                <a:cs typeface="+mn-lt"/>
              </a:rPr>
              <a:t>Customer focused development </a:t>
            </a:r>
            <a:endParaRPr lang="en-US" sz="2000"/>
          </a:p>
          <a:p>
            <a:r>
              <a:rPr lang="en-US" sz="2000">
                <a:ea typeface="+mn-lt"/>
                <a:cs typeface="+mn-lt"/>
              </a:rPr>
              <a:t>Fast paced environments </a:t>
            </a:r>
            <a:endParaRPr lang="en-US" sz="2000"/>
          </a:p>
          <a:p>
            <a:pPr marL="0" indent="0">
              <a:buNone/>
            </a:pPr>
            <a:r>
              <a:rPr lang="en-US" sz="2000">
                <a:ea typeface="+mn-lt"/>
                <a:cs typeface="+mn-lt"/>
              </a:rPr>
              <a:t>Waterfall is best for: </a:t>
            </a:r>
            <a:endParaRPr lang="en-US" sz="2000"/>
          </a:p>
          <a:p>
            <a:r>
              <a:rPr lang="en-US" sz="2000">
                <a:ea typeface="+mn-lt"/>
                <a:cs typeface="+mn-lt"/>
              </a:rPr>
              <a:t>Projects with clear and fixed requirements </a:t>
            </a:r>
            <a:endParaRPr lang="en-US" sz="2000"/>
          </a:p>
          <a:p>
            <a:r>
              <a:rPr lang="en-US" sz="2000">
                <a:ea typeface="+mn-lt"/>
                <a:cs typeface="+mn-lt"/>
              </a:rPr>
              <a:t>Predictable outcomes </a:t>
            </a:r>
            <a:endParaRPr lang="en-US" sz="2000"/>
          </a:p>
          <a:p>
            <a:r>
              <a:rPr lang="en-US" sz="2000">
                <a:ea typeface="+mn-lt"/>
                <a:cs typeface="+mn-lt"/>
              </a:rPr>
              <a:t>Less need for change</a:t>
            </a:r>
            <a:endParaRPr lang="en-US" sz="2000"/>
          </a:p>
          <a:p>
            <a:endParaRPr lang="en-US" sz="2000"/>
          </a:p>
        </p:txBody>
      </p:sp>
      <p:pic>
        <p:nvPicPr>
          <p:cNvPr id="5" name="Picture 4" descr="Tree by waterfalls">
            <a:extLst>
              <a:ext uri="{FF2B5EF4-FFF2-40B4-BE49-F238E27FC236}">
                <a16:creationId xmlns:a16="http://schemas.microsoft.com/office/drawing/2014/main" id="{BCB4D446-6AE2-C817-ED68-0D08B61EDB20}"/>
              </a:ext>
            </a:extLst>
          </p:cNvPr>
          <p:cNvPicPr>
            <a:picLocks noChangeAspect="1"/>
          </p:cNvPicPr>
          <p:nvPr/>
        </p:nvPicPr>
        <p:blipFill>
          <a:blip r:embed="rId3"/>
          <a:srcRect l="25956" r="14731" b="-3"/>
          <a:stretch>
            <a:fillRect/>
          </a:stretch>
        </p:blipFill>
        <p:spPr>
          <a:xfrm>
            <a:off x="6096000" y="1"/>
            <a:ext cx="6102825" cy="6858000"/>
          </a:xfrm>
          <a:prstGeom prst="rect">
            <a:avLst/>
          </a:prstGeom>
        </p:spPr>
      </p:pic>
    </p:spTree>
    <p:extLst>
      <p:ext uri="{BB962C8B-B14F-4D97-AF65-F5344CB8AC3E}">
        <p14:creationId xmlns:p14="http://schemas.microsoft.com/office/powerpoint/2010/main" val="3923240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1593C2-78BE-BB52-220F-EB625819490A}"/>
              </a:ext>
            </a:extLst>
          </p:cNvPr>
          <p:cNvSpPr>
            <a:spLocks noGrp="1"/>
          </p:cNvSpPr>
          <p:nvPr>
            <p:ph type="title"/>
          </p:nvPr>
        </p:nvSpPr>
        <p:spPr>
          <a:xfrm>
            <a:off x="586478" y="1683756"/>
            <a:ext cx="3115265" cy="2396359"/>
          </a:xfrm>
        </p:spPr>
        <p:txBody>
          <a:bodyPr anchor="b">
            <a:normAutofit/>
          </a:bodyPr>
          <a:lstStyle/>
          <a:p>
            <a:pPr algn="r"/>
            <a:r>
              <a:rPr lang="en-US" sz="3100">
                <a:solidFill>
                  <a:srgbClr val="FFFFFF"/>
                </a:solidFill>
              </a:rPr>
              <a:t>Final Recommendation</a:t>
            </a:r>
          </a:p>
        </p:txBody>
      </p:sp>
      <p:graphicFrame>
        <p:nvGraphicFramePr>
          <p:cNvPr id="5" name="Content Placeholder 2">
            <a:extLst>
              <a:ext uri="{FF2B5EF4-FFF2-40B4-BE49-F238E27FC236}">
                <a16:creationId xmlns:a16="http://schemas.microsoft.com/office/drawing/2014/main" id="{28507CDF-5899-20AE-9D6F-9D43D34031FC}"/>
              </a:ext>
            </a:extLst>
          </p:cNvPr>
          <p:cNvGraphicFramePr>
            <a:graphicFrameLocks noGrp="1"/>
          </p:cNvGraphicFramePr>
          <p:nvPr>
            <p:ph idx="1"/>
            <p:extLst>
              <p:ext uri="{D42A27DB-BD31-4B8C-83A1-F6EECF244321}">
                <p14:modId xmlns:p14="http://schemas.microsoft.com/office/powerpoint/2010/main" val="316975826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255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2C66C2C-3461-FB5B-C4F3-71F403C567DF}"/>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References (APA)</a:t>
            </a:r>
          </a:p>
        </p:txBody>
      </p:sp>
      <p:graphicFrame>
        <p:nvGraphicFramePr>
          <p:cNvPr id="17" name="Content Placeholder 2">
            <a:extLst>
              <a:ext uri="{FF2B5EF4-FFF2-40B4-BE49-F238E27FC236}">
                <a16:creationId xmlns:a16="http://schemas.microsoft.com/office/drawing/2014/main" id="{A18396EC-DA5E-5E38-2213-DEFC04766D18}"/>
              </a:ext>
            </a:extLst>
          </p:cNvPr>
          <p:cNvGraphicFramePr>
            <a:graphicFrameLocks noGrp="1"/>
          </p:cNvGraphicFramePr>
          <p:nvPr>
            <p:ph idx="1"/>
            <p:extLst>
              <p:ext uri="{D42A27DB-BD31-4B8C-83A1-F6EECF244321}">
                <p14:modId xmlns:p14="http://schemas.microsoft.com/office/powerpoint/2010/main" val="71354617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0862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6</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Agile vs Waterfall Development  SNHU Travel Project Analysis</vt:lpstr>
      <vt:lpstr>Key Roles in Scrum Agile</vt:lpstr>
      <vt:lpstr>Agile Software Development Life Cycle</vt:lpstr>
      <vt:lpstr>Waterfall Approach</vt:lpstr>
      <vt:lpstr>Agile vs Waterfall</vt:lpstr>
      <vt:lpstr>When to Use Agile or Waterfall</vt:lpstr>
      <vt:lpstr>Final Recommendation</vt:lpstr>
      <vt:lpstr>References (APA)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135</cp:revision>
  <dcterms:created xsi:type="dcterms:W3CDTF">2026-04-16T00:29:37Z</dcterms:created>
  <dcterms:modified xsi:type="dcterms:W3CDTF">2026-04-16T01:03:58Z</dcterms:modified>
</cp:coreProperties>
</file>